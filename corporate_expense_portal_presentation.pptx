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(Team Lead):</a:t>
            </a:r>
          </a:p>
          <a:p>
            <a:r>
              <a:t>Good morning Respected Professor and fellow evaluators. Our 4th-year Building Enterprise Applications capstone project is the Corporate Expense Claim &amp; Reimbursement Portal. In modern corporations, unmonitored employee expenses cause massive fiscal leakages. Our system automates the complete 4-stage pipeline shown here: from employee initiation, through algorithmic anti-fraud scanning, role-based authorization, and atomic treasury disbursement. Let us examine how our system re-engineers traditional broken workflows.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(Team Lead):</a:t>
            </a:r>
          </a:p>
          <a:p>
            <a:r>
              <a:t>Here we contrast the manual legacy process with our automated platform. In a manual process, receipts are lost, duplicates pass through unchecked, and managers routinely sign off on expenses exceeding their authority without finance oversight. Our system re-engineers this by inserting programmatic guards: a 48-hour duplicate detection scanner, a hard ₹10,000 managerial threshold, and an append-only audit ledger where no record can ever be modified or erased.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(Backend &amp; Architecture Lead):</a:t>
            </a:r>
          </a:p>
          <a:p>
            <a:r>
              <a:t>Respected Professor, this slide demonstrates our 4-tier software architecture following the Separation of Concerns principle. The Presentation Tier is an ultra-fast Vanilla JS Single Page Application requiring zero build tools. It communicates via HTTP REST to our FastAPI Controller Tier, where incoming payloads are validated using Pydantic DTOs. The Service Tier encapsulates all business rules—no business logic ever leaks into SQL or controllers. Finally, the Repository Tier manages persistence using SQLite3 with foreign keys strictly enabled. Any tier can be swapped—for example, switching SQLite to PostgreSQL requires editing only the Repository tier.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(Backend &amp; Architecture Lead):</a:t>
            </a:r>
          </a:p>
          <a:p>
            <a:r>
              <a:t>Here is our RBAC matrix. We implement the principle of least privilege. Employees can only view their own claims—our repository injects 'WHERE user_id = ?' on employee queries to prevent horizontal privilege escalation. Managers can view department claims and approve claims up to ₹10,000. If a manager attempts to approve a claim of ₹10,001, the backend rejects the request with HTTP 403 Forbidden. Finance officers handle high-value vouchers, batch settlements, and full audit ledger inspection.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(Backend &amp; Architecture Lead):</a:t>
            </a:r>
          </a:p>
          <a:p>
            <a:r>
              <a:t>This slide details our finite state machine. A claim exists in one of four deterministic states: PENDING, APPROVED, SETTLED, or REJECTED. Our state machine enforces critical business invariants: First, a claim CANNOT jump directly from PENDING to SETTLED without prior approval—attempting this raises HTTP 400. Second, REJECTED is a terminal state; once rejected, it cannot be revived or approved. This prevents collusion or backdoor settlements.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(Database &amp; Governance Lead):</a:t>
            </a:r>
          </a:p>
          <a:p>
            <a:r>
              <a:t>Here are our automated business rules. Rule 1 enforces the ₹10,000 threshold. If Alice files a claim for ₹45,000, Bob the manager sees a locked button labeled 'Needs Finance Approval'. Even if Bob crafts a raw POST request, our backend inspects the amount and blocks it. Rule 2 is our 48-Hour Duplicate Scanner. If an employee accidentally or intentionally files an identical claim within 48 hours, the system queries the composite index, flags the record with is_duplicate = True, and paints an amber alert badge. Rule 3 enforces mandatory rejection notes so no claim is dismissed without written justification.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(Database &amp; Governance Lead):</a:t>
            </a:r>
          </a:p>
          <a:p>
            <a:r>
              <a:t>This slide covers our relational persistence model and the ACID batch settlement pipeline. Our SQLite database enforces 3rd Normal Form with three primary entities: Users, ExpenseClaims, and AuditLogs. We explicitly enable foreign key enforcement on every connection using 'PRAGMA foreign_keys = ON'. On the right is our One-Click Batch Settlement feature. Instead of forcing the Finance Officer to settle 50 claims one-by-one, our system executes an atomic transaction: it selects all approved claims, transitions them to SETTLED, writes individual audit records, and commits. If the server loses power midway, the transaction rolls back cleanly with zero partial disbursements.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(Database &amp; Governance Lead):</a:t>
            </a:r>
          </a:p>
          <a:p>
            <a:r>
              <a:t>Slide 8 illustrates our regulatory audit architecture. In enterprise software, the ability to prove who did what and when is legally required under regulations like Sarbanes-Oxley. Our AuditRepository contains no UPDATE or DELETE statements. It is strictly append-only. We expose two query paths: employees can inspect the chronological milestone history of their own claim via the Timeline Modal, while executives and auditors can view the complete tabular Global Audit Ledger across all departments.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LEAD (Any Teammate / Entire Team):</a:t>
            </a:r>
          </a:p>
          <a:p>
            <a:r>
              <a:t>Professor, we will now transition to our 2-minute live software demonstration. We will execute four rapid scenarios: First, as Alice Jenkins, we submit a claim to demonstrate real-time duplicate checking. Second, as Bob Martinez, we show how the system locks Bob out from approving claims over ₹10,000. Third, as Carol Vance in Finance, we approve the high-value expense and execute the One-Click Batch Settlement. Finally, we open the immutable audit timeline and inspect the live Swagger OpenAPI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(Team Lead):</a:t>
            </a:r>
          </a:p>
          <a:p>
            <a:r>
              <a:t>In conclusion, our Corporate Expense Claim &amp; Reimbursement Portal demonstrates complete mastery of Building Enterprise Applications concepts. Our automated test suite runs 7 comprehensive domain tests in under 0.2 seconds with a 100% pass rate. We have achieved decoupled multi-tier architecture, zero-dependency portability, algorithmic fiscal governance, and non-repudiable auditability. We thank you for your time and guidance, and we welcome any questions from the Professor.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73152" cy="21031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097280"/>
            <a:ext cx="10058400" cy="2194560"/>
          </a:xfrm>
          <a:prstGeom prst="rect">
            <a:avLst/>
          </a:prstGeom>
          <a:noFill/>
        </p:spPr>
        <p:txBody>
          <a:bodyPr wrap="square">
            <a:spAutoFit/>
          </a:bodyPr>
          <a:lstStyle/>
          <a:p>
            <a:pPr>
              <a:defRPr sz="1100" b="1">
                <a:solidFill>
                  <a:srgbClr val="10B981"/>
                </a:solidFill>
                <a:latin typeface="Calibri"/>
              </a:defRPr>
            </a:pPr>
            <a:r>
              <a:t>BUILDING ENTERPRISE APPLICATIONS (BEA)  •  CAPSTONE PROJECT</a:t>
            </a:r>
          </a:p>
          <a:p>
            <a:pPr>
              <a:spcBef>
                <a:spcPts val="800"/>
              </a:spcBef>
              <a:defRPr sz="3200" b="1">
                <a:solidFill>
                  <a:srgbClr val="F8FAFC"/>
                </a:solidFill>
                <a:latin typeface="Calibri"/>
              </a:defRPr>
            </a:pPr>
            <a:r>
              <a:t>Corporate Expense Claim &amp; Reimbursement Portal</a:t>
            </a:r>
          </a:p>
          <a:p>
            <a:pPr>
              <a:spcBef>
                <a:spcPts val="600"/>
              </a:spcBef>
              <a:defRPr sz="1300">
                <a:solidFill>
                  <a:srgbClr val="94A3B8"/>
                </a:solidFill>
                <a:latin typeface="Calibri"/>
              </a:defRPr>
            </a:pPr>
            <a:r>
              <a:t>A Multi-Tier, Role-Governed Financial System with Automated Anti-Fraud &amp; Immutable Ledger</a:t>
            </a:r>
          </a:p>
        </p:txBody>
      </p:sp>
      <p:sp>
        <p:nvSpPr>
          <p:cNvPr id="5" name="TextBox 4"/>
          <p:cNvSpPr txBox="1"/>
          <p:nvPr/>
        </p:nvSpPr>
        <p:spPr>
          <a:xfrm>
            <a:off x="731520" y="3566160"/>
            <a:ext cx="10728655" cy="274320"/>
          </a:xfrm>
          <a:prstGeom prst="rect">
            <a:avLst/>
          </a:prstGeom>
          <a:noFill/>
        </p:spPr>
        <p:txBody>
          <a:bodyPr wrap="none">
            <a:spAutoFit/>
          </a:bodyPr>
          <a:lstStyle/>
          <a:p>
            <a:pPr>
              <a:defRPr sz="950" b="1">
                <a:solidFill>
                  <a:srgbClr val="0EA5E9"/>
                </a:solidFill>
                <a:latin typeface="Calibri"/>
              </a:defRPr>
            </a:pPr>
            <a:r>
              <a:t>CORE REIMBURSEMENT LIFECYCLE (END-TO-END EXECUTION PIPELINE)</a:t>
            </a:r>
          </a:p>
        </p:txBody>
      </p:sp>
      <p:sp>
        <p:nvSpPr>
          <p:cNvPr id="6" name="Rounded Rectangle 5"/>
          <p:cNvSpPr/>
          <p:nvPr/>
        </p:nvSpPr>
        <p:spPr>
          <a:xfrm>
            <a:off x="731520" y="3931920"/>
            <a:ext cx="2468880" cy="169164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023360"/>
            <a:ext cx="2194560" cy="1508760"/>
          </a:xfrm>
          <a:prstGeom prst="rect">
            <a:avLst/>
          </a:prstGeom>
          <a:noFill/>
        </p:spPr>
        <p:txBody>
          <a:bodyPr wrap="square">
            <a:spAutoFit/>
          </a:bodyPr>
          <a:lstStyle/>
          <a:p>
            <a:pPr>
              <a:defRPr sz="1000" b="1">
                <a:solidFill>
                  <a:srgbClr val="0EA5E9"/>
                </a:solidFill>
                <a:latin typeface="Calibri"/>
              </a:defRPr>
            </a:pPr>
            <a:r>
              <a:t>01. INITIATION</a:t>
            </a:r>
          </a:p>
          <a:p>
            <a:pPr>
              <a:spcBef>
                <a:spcPts val="300"/>
              </a:spcBef>
              <a:defRPr sz="1250" b="1">
                <a:solidFill>
                  <a:srgbClr val="F8FAFC"/>
                </a:solidFill>
                <a:latin typeface="Calibri"/>
              </a:defRPr>
            </a:pPr>
            <a:r>
              <a:t>Employee Submission</a:t>
            </a:r>
          </a:p>
          <a:p>
            <a:pPr>
              <a:spcBef>
                <a:spcPts val="600"/>
              </a:spcBef>
              <a:defRPr sz="950">
                <a:solidFill>
                  <a:srgbClr val="94A3B8"/>
                </a:solidFill>
                <a:latin typeface="Calibri"/>
              </a:defRPr>
            </a:pPr>
            <a:r>
              <a:t>Category, date, receipts &amp; amount filed via responsive SPA dashboard.</a:t>
            </a:r>
          </a:p>
        </p:txBody>
      </p:sp>
      <p:sp>
        <p:nvSpPr>
          <p:cNvPr id="8" name="TextBox 7"/>
          <p:cNvSpPr txBox="1"/>
          <p:nvPr/>
        </p:nvSpPr>
        <p:spPr>
          <a:xfrm>
            <a:off x="3200400" y="4480560"/>
            <a:ext cx="274320" cy="457200"/>
          </a:xfrm>
          <a:prstGeom prst="rect">
            <a:avLst/>
          </a:prstGeom>
          <a:noFill/>
        </p:spPr>
        <p:txBody>
          <a:bodyPr wrap="none">
            <a:spAutoFit/>
          </a:bodyPr>
          <a:lstStyle/>
          <a:p>
            <a:pPr algn="ctr">
              <a:defRPr sz="1600" b="1">
                <a:solidFill>
                  <a:srgbClr val="64748B"/>
                </a:solidFill>
                <a:latin typeface="Calibri"/>
              </a:defRPr>
            </a:pPr>
            <a:r>
              <a:t>➔</a:t>
            </a:r>
          </a:p>
        </p:txBody>
      </p:sp>
      <p:sp>
        <p:nvSpPr>
          <p:cNvPr id="9" name="Rounded Rectangle 8"/>
          <p:cNvSpPr/>
          <p:nvPr/>
        </p:nvSpPr>
        <p:spPr>
          <a:xfrm>
            <a:off x="3474720" y="3931920"/>
            <a:ext cx="2468880" cy="169164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4023360"/>
            <a:ext cx="2194560" cy="1508760"/>
          </a:xfrm>
          <a:prstGeom prst="rect">
            <a:avLst/>
          </a:prstGeom>
          <a:noFill/>
        </p:spPr>
        <p:txBody>
          <a:bodyPr wrap="square">
            <a:spAutoFit/>
          </a:bodyPr>
          <a:lstStyle/>
          <a:p>
            <a:pPr>
              <a:defRPr sz="1000" b="1">
                <a:solidFill>
                  <a:srgbClr val="F59E0B"/>
                </a:solidFill>
                <a:latin typeface="Calibri"/>
              </a:defRPr>
            </a:pPr>
            <a:r>
              <a:t>02. COMPLIANCE SCAN</a:t>
            </a:r>
          </a:p>
          <a:p>
            <a:pPr>
              <a:spcBef>
                <a:spcPts val="300"/>
              </a:spcBef>
              <a:defRPr sz="1250" b="1">
                <a:solidFill>
                  <a:srgbClr val="F8FAFC"/>
                </a:solidFill>
                <a:latin typeface="Calibri"/>
              </a:defRPr>
            </a:pPr>
            <a:r>
              <a:t>Automated Anti-Fraud</a:t>
            </a:r>
          </a:p>
          <a:p>
            <a:pPr>
              <a:spcBef>
                <a:spcPts val="600"/>
              </a:spcBef>
              <a:defRPr sz="950">
                <a:solidFill>
                  <a:srgbClr val="94A3B8"/>
                </a:solidFill>
                <a:latin typeface="Calibri"/>
              </a:defRPr>
            </a:pPr>
            <a:r>
              <a:t>48h duplicate invoice scanner &amp; ₹10,000 authority routing check.</a:t>
            </a:r>
          </a:p>
        </p:txBody>
      </p:sp>
      <p:sp>
        <p:nvSpPr>
          <p:cNvPr id="11" name="TextBox 10"/>
          <p:cNvSpPr txBox="1"/>
          <p:nvPr/>
        </p:nvSpPr>
        <p:spPr>
          <a:xfrm>
            <a:off x="5943600" y="4480560"/>
            <a:ext cx="274320" cy="457200"/>
          </a:xfrm>
          <a:prstGeom prst="rect">
            <a:avLst/>
          </a:prstGeom>
          <a:noFill/>
        </p:spPr>
        <p:txBody>
          <a:bodyPr wrap="none">
            <a:spAutoFit/>
          </a:bodyPr>
          <a:lstStyle/>
          <a:p>
            <a:pPr algn="ctr">
              <a:defRPr sz="1600" b="1">
                <a:solidFill>
                  <a:srgbClr val="64748B"/>
                </a:solidFill>
                <a:latin typeface="Calibri"/>
              </a:defRPr>
            </a:pPr>
            <a:r>
              <a:t>➔</a:t>
            </a:r>
          </a:p>
        </p:txBody>
      </p:sp>
      <p:sp>
        <p:nvSpPr>
          <p:cNvPr id="12" name="Rounded Rectangle 11"/>
          <p:cNvSpPr/>
          <p:nvPr/>
        </p:nvSpPr>
        <p:spPr>
          <a:xfrm>
            <a:off x="6217920" y="3931920"/>
            <a:ext cx="2468880" cy="169164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023360"/>
            <a:ext cx="2194560" cy="1508760"/>
          </a:xfrm>
          <a:prstGeom prst="rect">
            <a:avLst/>
          </a:prstGeom>
          <a:noFill/>
        </p:spPr>
        <p:txBody>
          <a:bodyPr wrap="square">
            <a:spAutoFit/>
          </a:bodyPr>
          <a:lstStyle/>
          <a:p>
            <a:pPr>
              <a:defRPr sz="1000" b="1">
                <a:solidFill>
                  <a:srgbClr val="10B981"/>
                </a:solidFill>
                <a:latin typeface="Calibri"/>
              </a:defRPr>
            </a:pPr>
            <a:r>
              <a:t>03. AUTHORIZATION</a:t>
            </a:r>
          </a:p>
          <a:p>
            <a:pPr>
              <a:spcBef>
                <a:spcPts val="300"/>
              </a:spcBef>
              <a:defRPr sz="1250" b="1">
                <a:solidFill>
                  <a:srgbClr val="F8FAFC"/>
                </a:solidFill>
                <a:latin typeface="Calibri"/>
              </a:defRPr>
            </a:pPr>
            <a:r>
              <a:t>Role-Based Delegation</a:t>
            </a:r>
          </a:p>
          <a:p>
            <a:pPr>
              <a:spcBef>
                <a:spcPts val="600"/>
              </a:spcBef>
              <a:defRPr sz="950">
                <a:solidFill>
                  <a:srgbClr val="94A3B8"/>
                </a:solidFill>
                <a:latin typeface="Calibri"/>
              </a:defRPr>
            </a:pPr>
            <a:r>
              <a:t>Manager approves claims &lt;= ₹10k; Finance approves high-value vouchers.</a:t>
            </a:r>
          </a:p>
        </p:txBody>
      </p:sp>
      <p:sp>
        <p:nvSpPr>
          <p:cNvPr id="14" name="TextBox 13"/>
          <p:cNvSpPr txBox="1"/>
          <p:nvPr/>
        </p:nvSpPr>
        <p:spPr>
          <a:xfrm>
            <a:off x="8686800" y="4480560"/>
            <a:ext cx="274320" cy="457200"/>
          </a:xfrm>
          <a:prstGeom prst="rect">
            <a:avLst/>
          </a:prstGeom>
          <a:noFill/>
        </p:spPr>
        <p:txBody>
          <a:bodyPr wrap="none">
            <a:spAutoFit/>
          </a:bodyPr>
          <a:lstStyle/>
          <a:p>
            <a:pPr algn="ctr">
              <a:defRPr sz="1600" b="1">
                <a:solidFill>
                  <a:srgbClr val="64748B"/>
                </a:solidFill>
                <a:latin typeface="Calibri"/>
              </a:defRPr>
            </a:pPr>
            <a:r>
              <a:t>➔</a:t>
            </a:r>
          </a:p>
        </p:txBody>
      </p:sp>
      <p:sp>
        <p:nvSpPr>
          <p:cNvPr id="15" name="Rounded Rectangle 14"/>
          <p:cNvSpPr/>
          <p:nvPr/>
        </p:nvSpPr>
        <p:spPr>
          <a:xfrm>
            <a:off x="8961120" y="3931920"/>
            <a:ext cx="2468880" cy="1691640"/>
          </a:xfrm>
          <a:prstGeom prst="roundRect">
            <a:avLst/>
          </a:prstGeom>
          <a:solidFill>
            <a:srgbClr val="111827"/>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4023360"/>
            <a:ext cx="2194560" cy="1508760"/>
          </a:xfrm>
          <a:prstGeom prst="rect">
            <a:avLst/>
          </a:prstGeom>
          <a:noFill/>
        </p:spPr>
        <p:txBody>
          <a:bodyPr wrap="square">
            <a:spAutoFit/>
          </a:bodyPr>
          <a:lstStyle/>
          <a:p>
            <a:pPr>
              <a:defRPr sz="1000" b="1">
                <a:solidFill>
                  <a:srgbClr val="8B5CF6"/>
                </a:solidFill>
                <a:latin typeface="Calibri"/>
              </a:defRPr>
            </a:pPr>
            <a:r>
              <a:t>04. DISBURSEMENT</a:t>
            </a:r>
          </a:p>
          <a:p>
            <a:pPr>
              <a:spcBef>
                <a:spcPts val="300"/>
              </a:spcBef>
              <a:defRPr sz="1250" b="1">
                <a:solidFill>
                  <a:srgbClr val="F8FAFC"/>
                </a:solidFill>
                <a:latin typeface="Calibri"/>
              </a:defRPr>
            </a:pPr>
            <a:r>
              <a:t>One-Click Settlement</a:t>
            </a:r>
          </a:p>
          <a:p>
            <a:pPr>
              <a:spcBef>
                <a:spcPts val="600"/>
              </a:spcBef>
              <a:defRPr sz="950">
                <a:solidFill>
                  <a:srgbClr val="94A3B8"/>
                </a:solidFill>
                <a:latin typeface="Calibri"/>
              </a:defRPr>
            </a:pPr>
            <a:r>
              <a:t>ACID batch disbursement and non-repudiable ledger commit.</a:t>
            </a:r>
          </a:p>
        </p:txBody>
      </p:sp>
      <p:sp>
        <p:nvSpPr>
          <p:cNvPr id="17" name="TextBox 16"/>
          <p:cNvSpPr txBox="1"/>
          <p:nvPr/>
        </p:nvSpPr>
        <p:spPr>
          <a:xfrm>
            <a:off x="731520" y="5897880"/>
            <a:ext cx="10728655" cy="274320"/>
          </a:xfrm>
          <a:prstGeom prst="rect">
            <a:avLst/>
          </a:prstGeom>
          <a:noFill/>
        </p:spPr>
        <p:txBody>
          <a:bodyPr wrap="none">
            <a:spAutoFit/>
          </a:bodyPr>
          <a:lstStyle/>
          <a:p>
            <a:pPr>
              <a:defRPr sz="900">
                <a:solidFill>
                  <a:srgbClr val="64748B"/>
                </a:solidFill>
                <a:latin typeface="Calibri"/>
              </a:defRPr>
            </a:pPr>
            <a:r>
              <a:t>Technology Stack: Python 3.12  •  FastAPI REST API  •  SQLite3 Relational DB  •  Vanilla JS SPA  •  Academic Year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228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51560"/>
          </a:xfrm>
          <a:prstGeom prst="rect">
            <a:avLst/>
          </a:prstGeom>
          <a:noFill/>
        </p:spPr>
        <p:txBody>
          <a:bodyPr wrap="square" lIns="0" tIns="0" rIns="0" bIns="0">
            <a:spAutoFit/>
          </a:bodyPr>
          <a:lstStyle/>
          <a:p>
            <a:pPr>
              <a:defRPr sz="950" b="1">
                <a:solidFill>
                  <a:srgbClr val="10B981"/>
                </a:solidFill>
                <a:latin typeface="Calibri"/>
              </a:defRPr>
            </a:pPr>
            <a:r>
              <a:t>//  ENTERPRISE PROBLEM VS. SOLUTION</a:t>
            </a:r>
          </a:p>
          <a:p>
            <a:pPr>
              <a:spcBef>
                <a:spcPts val="300"/>
              </a:spcBef>
              <a:defRPr sz="2200" b="1">
                <a:solidFill>
                  <a:srgbClr val="F8FAFC"/>
                </a:solidFill>
                <a:latin typeface="Calibri"/>
              </a:defRPr>
            </a:pPr>
            <a:r>
              <a:t>Workflow Re-Engineering: Traditional Vulnerabilities vs. Automated Solution</a:t>
            </a:r>
          </a:p>
          <a:p>
            <a:pPr>
              <a:spcBef>
                <a:spcPts val="200"/>
              </a:spcBef>
              <a:defRPr sz="1100">
                <a:solidFill>
                  <a:srgbClr val="94A3B8"/>
                </a:solidFill>
                <a:latin typeface="Calibri"/>
              </a:defRPr>
            </a:pPr>
            <a:r>
              <a:t>How our automated state pipeline prevents corporate financial leakages and ensures total audit compliance.</a:t>
            </a:r>
          </a:p>
        </p:txBody>
      </p:sp>
      <p:sp>
        <p:nvSpPr>
          <p:cNvPr id="5" name="Rectangle 4"/>
          <p:cNvSpPr/>
          <p:nvPr/>
        </p:nvSpPr>
        <p:spPr>
          <a:xfrm>
            <a:off x="731520" y="157276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45936"/>
            <a:ext cx="7315200" cy="274320"/>
          </a:xfrm>
          <a:prstGeom prst="rect">
            <a:avLst/>
          </a:prstGeom>
          <a:noFill/>
        </p:spPr>
        <p:txBody>
          <a:bodyPr wrap="none">
            <a:spAutoFit/>
          </a:bodyPr>
          <a:lstStyle/>
          <a:p>
            <a:pPr>
              <a:defRPr sz="850" b="1">
                <a:solidFill>
                  <a:srgbClr val="64748B"/>
                </a:solidFill>
                <a:latin typeface="Calibri"/>
              </a:defRPr>
            </a:pPr>
            <a:r>
              <a:t>APEX ENTERPRISE SYSTEMS  •  BEA CAPSTONE  •  FASTAPI + SQLITE3 RELATIONAL ARCHITECTURE</a:t>
            </a:r>
          </a:p>
        </p:txBody>
      </p:sp>
      <p:sp>
        <p:nvSpPr>
          <p:cNvPr id="8" name="TextBox 7"/>
          <p:cNvSpPr txBox="1"/>
          <p:nvPr/>
        </p:nvSpPr>
        <p:spPr>
          <a:xfrm>
            <a:off x="9601200" y="6345936"/>
            <a:ext cx="1828800" cy="274320"/>
          </a:xfrm>
          <a:prstGeom prst="rect">
            <a:avLst/>
          </a:prstGeom>
          <a:noFill/>
        </p:spPr>
        <p:txBody>
          <a:bodyPr wrap="none">
            <a:spAutoFit/>
          </a:bodyPr>
          <a:lstStyle/>
          <a:p>
            <a:pPr algn="r">
              <a:defRPr sz="900" b="1">
                <a:solidFill>
                  <a:srgbClr val="10B981"/>
                </a:solidFill>
                <a:latin typeface="Calibri"/>
              </a:defRPr>
            </a:pPr>
            <a:r>
              <a:t>SLIDE  02 / 10</a:t>
            </a:r>
          </a:p>
        </p:txBody>
      </p:sp>
      <p:sp>
        <p:nvSpPr>
          <p:cNvPr id="9" name="Rounded Rectangle 8"/>
          <p:cNvSpPr/>
          <p:nvPr/>
        </p:nvSpPr>
        <p:spPr>
          <a:xfrm>
            <a:off x="731520" y="1783080"/>
            <a:ext cx="5212080" cy="4069080"/>
          </a:xfrm>
          <a:prstGeom prst="roundRect">
            <a:avLst/>
          </a:prstGeom>
          <a:solidFill>
            <a:srgbClr val="111827"/>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74519"/>
            <a:ext cx="4846320" cy="3840480"/>
          </a:xfrm>
          <a:prstGeom prst="rect">
            <a:avLst/>
          </a:prstGeom>
          <a:noFill/>
        </p:spPr>
        <p:txBody>
          <a:bodyPr wrap="square">
            <a:spAutoFit/>
          </a:bodyPr>
          <a:lstStyle/>
          <a:p>
            <a:pPr>
              <a:defRPr sz="1100" b="1">
                <a:solidFill>
                  <a:srgbClr val="F43F5E"/>
                </a:solidFill>
                <a:latin typeface="Calibri"/>
              </a:defRPr>
            </a:pPr>
            <a:r>
              <a:t>TRADITIONAL MANUAL PROCESS (HIGH-RISK)</a:t>
            </a:r>
          </a:p>
          <a:p>
            <a:pPr>
              <a:spcBef>
                <a:spcPts val="800"/>
              </a:spcBef>
              <a:defRPr sz="1050" b="1">
                <a:solidFill>
                  <a:srgbClr val="F8FAFC"/>
                </a:solidFill>
                <a:latin typeface="Calibri"/>
              </a:defRPr>
            </a:pPr>
            <a:r>
              <a:t>✖  Step 1: Paper Forms &amp; Scattered Receipts</a:t>
            </a:r>
          </a:p>
          <a:p>
            <a:pPr>
              <a:defRPr sz="950">
                <a:solidFill>
                  <a:srgbClr val="94A3B8"/>
                </a:solidFill>
                <a:latin typeface="Calibri"/>
              </a:defRPr>
            </a:pPr>
            <a:r>
              <a:t>    Impact: Invoices emailed or submitted on paper with zero centralized validation.</a:t>
            </a:r>
          </a:p>
          <a:p>
            <a:pPr>
              <a:spcBef>
                <a:spcPts val="800"/>
              </a:spcBef>
              <a:defRPr sz="1050" b="1">
                <a:solidFill>
                  <a:srgbClr val="F8FAFC"/>
                </a:solidFill>
                <a:latin typeface="Calibri"/>
              </a:defRPr>
            </a:pPr>
            <a:r>
              <a:t>✖  Step 2: Duplicate Payments Go Undetected</a:t>
            </a:r>
          </a:p>
          <a:p>
            <a:pPr>
              <a:defRPr sz="950">
                <a:solidFill>
                  <a:srgbClr val="94A3B8"/>
                </a:solidFill>
                <a:latin typeface="Calibri"/>
              </a:defRPr>
            </a:pPr>
            <a:r>
              <a:t>    Impact: Employees submit identical claims across months without detection.</a:t>
            </a:r>
          </a:p>
          <a:p>
            <a:pPr>
              <a:spcBef>
                <a:spcPts val="800"/>
              </a:spcBef>
              <a:defRPr sz="1050" b="1">
                <a:solidFill>
                  <a:srgbClr val="F8FAFC"/>
                </a:solidFill>
                <a:latin typeface="Calibri"/>
              </a:defRPr>
            </a:pPr>
            <a:r>
              <a:t>✖  Step 3: Unauthorized Approvals</a:t>
            </a:r>
          </a:p>
          <a:p>
            <a:pPr>
              <a:defRPr sz="950">
                <a:solidFill>
                  <a:srgbClr val="94A3B8"/>
                </a:solidFill>
                <a:latin typeface="Calibri"/>
              </a:defRPr>
            </a:pPr>
            <a:r>
              <a:t>    Impact: Managers approve expenses beyond authority limits without executive review.</a:t>
            </a:r>
          </a:p>
          <a:p>
            <a:pPr>
              <a:spcBef>
                <a:spcPts val="800"/>
              </a:spcBef>
              <a:defRPr sz="1050" b="1">
                <a:solidFill>
                  <a:srgbClr val="F8FAFC"/>
                </a:solidFill>
                <a:latin typeface="Calibri"/>
              </a:defRPr>
            </a:pPr>
            <a:r>
              <a:t>✖  Step 4: No Traceable Audit Trail</a:t>
            </a:r>
          </a:p>
          <a:p>
            <a:pPr>
              <a:defRPr sz="950">
                <a:solidFill>
                  <a:srgbClr val="94A3B8"/>
                </a:solidFill>
                <a:latin typeface="Calibri"/>
              </a:defRPr>
            </a:pPr>
            <a:r>
              <a:t>    Impact: Changes are lost in email threads with zero non-repudiation or legal proof.</a:t>
            </a:r>
          </a:p>
        </p:txBody>
      </p:sp>
      <p:sp>
        <p:nvSpPr>
          <p:cNvPr id="11" name="Rounded Rectangle 10"/>
          <p:cNvSpPr/>
          <p:nvPr/>
        </p:nvSpPr>
        <p:spPr>
          <a:xfrm>
            <a:off x="6217920" y="1783080"/>
            <a:ext cx="5212080" cy="406908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874519"/>
            <a:ext cx="4846320" cy="3840480"/>
          </a:xfrm>
          <a:prstGeom prst="rect">
            <a:avLst/>
          </a:prstGeom>
          <a:noFill/>
        </p:spPr>
        <p:txBody>
          <a:bodyPr wrap="square">
            <a:spAutoFit/>
          </a:bodyPr>
          <a:lstStyle/>
          <a:p>
            <a:pPr>
              <a:defRPr sz="1100" b="1">
                <a:solidFill>
                  <a:srgbClr val="10B981"/>
                </a:solidFill>
                <a:latin typeface="Calibri"/>
              </a:defRPr>
            </a:pPr>
            <a:r>
              <a:t>OUR AUTOMATED ENTERPRISE PORTAL (100% GOVERNED)</a:t>
            </a:r>
          </a:p>
          <a:p>
            <a:pPr>
              <a:spcBef>
                <a:spcPts val="800"/>
              </a:spcBef>
              <a:defRPr sz="1050" b="1">
                <a:solidFill>
                  <a:srgbClr val="10B981"/>
                </a:solidFill>
                <a:latin typeface="Calibri"/>
              </a:defRPr>
            </a:pPr>
            <a:r>
              <a:t>✔  Stage 1: Centralized Web Portal (SPA)</a:t>
            </a:r>
          </a:p>
          <a:p>
            <a:pPr>
              <a:defRPr sz="950">
                <a:solidFill>
                  <a:srgbClr val="94A3B8"/>
                </a:solidFill>
                <a:latin typeface="Calibri"/>
              </a:defRPr>
            </a:pPr>
            <a:r>
              <a:t>    Benefit: Real-time client validation and instantaneous claim tracking.</a:t>
            </a:r>
          </a:p>
          <a:p>
            <a:pPr>
              <a:spcBef>
                <a:spcPts val="800"/>
              </a:spcBef>
              <a:defRPr sz="1050" b="1">
                <a:solidFill>
                  <a:srgbClr val="10B981"/>
                </a:solidFill>
                <a:latin typeface="Calibri"/>
              </a:defRPr>
            </a:pPr>
            <a:r>
              <a:t>✔  Stage 2: 48h Duplicate Scanner Algorithm</a:t>
            </a:r>
          </a:p>
          <a:p>
            <a:pPr>
              <a:defRPr sz="950">
                <a:solidFill>
                  <a:srgbClr val="94A3B8"/>
                </a:solidFill>
                <a:latin typeface="Calibri"/>
              </a:defRPr>
            </a:pPr>
            <a:r>
              <a:t>    Benefit: Flags identical user + category + amount claims with amber warning badge.</a:t>
            </a:r>
          </a:p>
          <a:p>
            <a:pPr>
              <a:spcBef>
                <a:spcPts val="800"/>
              </a:spcBef>
              <a:defRPr sz="1050" b="1">
                <a:solidFill>
                  <a:srgbClr val="10B981"/>
                </a:solidFill>
                <a:latin typeface="Calibri"/>
              </a:defRPr>
            </a:pPr>
            <a:r>
              <a:t>✔  Stage 3: Dual-Tier ₹10,000 Approval Limit</a:t>
            </a:r>
          </a:p>
          <a:p>
            <a:pPr>
              <a:defRPr sz="950">
                <a:solidFill>
                  <a:srgbClr val="94A3B8"/>
                </a:solidFill>
                <a:latin typeface="Calibri"/>
              </a:defRPr>
            </a:pPr>
            <a:r>
              <a:t>    Benefit: Manager approval capped at ₹10,000; larger claims routed strictly to Finance.</a:t>
            </a:r>
          </a:p>
          <a:p>
            <a:pPr>
              <a:spcBef>
                <a:spcPts val="800"/>
              </a:spcBef>
              <a:defRPr sz="1050" b="1">
                <a:solidFill>
                  <a:srgbClr val="10B981"/>
                </a:solidFill>
                <a:latin typeface="Calibri"/>
              </a:defRPr>
            </a:pPr>
            <a:r>
              <a:t>✔  Stage 4: Immutable Ledger &amp; Batch Settle</a:t>
            </a:r>
          </a:p>
          <a:p>
            <a:pPr>
              <a:defRPr sz="950">
                <a:solidFill>
                  <a:srgbClr val="94A3B8"/>
                </a:solidFill>
                <a:latin typeface="Calibri"/>
              </a:defRPr>
            </a:pPr>
            <a:r>
              <a:t>    Benefit: Append-only database ledger records every state transition atomically.</a:t>
            </a:r>
          </a:p>
        </p:txBody>
      </p:sp>
      <p:sp>
        <p:nvSpPr>
          <p:cNvPr id="13" name="TextBox 12"/>
          <p:cNvSpPr txBox="1"/>
          <p:nvPr/>
        </p:nvSpPr>
        <p:spPr>
          <a:xfrm>
            <a:off x="731520" y="5897880"/>
            <a:ext cx="10728655" cy="320040"/>
          </a:xfrm>
          <a:prstGeom prst="rect">
            <a:avLst/>
          </a:prstGeom>
          <a:noFill/>
        </p:spPr>
        <p:txBody>
          <a:bodyPr wrap="none">
            <a:spAutoFit/>
          </a:bodyPr>
          <a:lstStyle/>
          <a:p>
            <a:pPr>
              <a:defRPr sz="1000" b="1">
                <a:solidFill>
                  <a:srgbClr val="0EA5E9"/>
                </a:solidFill>
                <a:latin typeface="Calibri"/>
              </a:defRPr>
            </a:pPr>
            <a:r>
              <a:t>Key Takeaway: Replaces manual trust with programmatic rules—preventing fraud, enforcing thresholds, and guaranteeing legal auditability.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228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51560"/>
          </a:xfrm>
          <a:prstGeom prst="rect">
            <a:avLst/>
          </a:prstGeom>
          <a:noFill/>
        </p:spPr>
        <p:txBody>
          <a:bodyPr wrap="square" lIns="0" tIns="0" rIns="0" bIns="0">
            <a:spAutoFit/>
          </a:bodyPr>
          <a:lstStyle/>
          <a:p>
            <a:pPr>
              <a:defRPr sz="950" b="1">
                <a:solidFill>
                  <a:srgbClr val="10B981"/>
                </a:solidFill>
                <a:latin typeface="Calibri"/>
              </a:defRPr>
            </a:pPr>
            <a:r>
              <a:t>//  SOFTWARE ENGINEERING</a:t>
            </a:r>
          </a:p>
          <a:p>
            <a:pPr>
              <a:spcBef>
                <a:spcPts val="300"/>
              </a:spcBef>
              <a:defRPr sz="2200" b="1">
                <a:solidFill>
                  <a:srgbClr val="F8FAFC"/>
                </a:solidFill>
                <a:latin typeface="Calibri"/>
              </a:defRPr>
            </a:pPr>
            <a:r>
              <a:t>Multi-Tier Architecture &amp; Separation of Concerns (SoC)</a:t>
            </a:r>
          </a:p>
          <a:p>
            <a:pPr>
              <a:spcBef>
                <a:spcPts val="200"/>
              </a:spcBef>
              <a:defRPr sz="1100">
                <a:solidFill>
                  <a:srgbClr val="94A3B8"/>
                </a:solidFill>
                <a:latin typeface="Calibri"/>
              </a:defRPr>
            </a:pPr>
            <a:r>
              <a:t>Decoupled Presentation, Controller, Service, and Repository layers communicate via strict typed DTO contracts.</a:t>
            </a:r>
          </a:p>
        </p:txBody>
      </p:sp>
      <p:sp>
        <p:nvSpPr>
          <p:cNvPr id="5" name="Rectangle 4"/>
          <p:cNvSpPr/>
          <p:nvPr/>
        </p:nvSpPr>
        <p:spPr>
          <a:xfrm>
            <a:off x="731520" y="157276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45936"/>
            <a:ext cx="7315200" cy="274320"/>
          </a:xfrm>
          <a:prstGeom prst="rect">
            <a:avLst/>
          </a:prstGeom>
          <a:noFill/>
        </p:spPr>
        <p:txBody>
          <a:bodyPr wrap="none">
            <a:spAutoFit/>
          </a:bodyPr>
          <a:lstStyle/>
          <a:p>
            <a:pPr>
              <a:defRPr sz="850" b="1">
                <a:solidFill>
                  <a:srgbClr val="64748B"/>
                </a:solidFill>
                <a:latin typeface="Calibri"/>
              </a:defRPr>
            </a:pPr>
            <a:r>
              <a:t>APEX ENTERPRISE SYSTEMS  •  BEA CAPSTONE  •  FASTAPI + SQLITE3 RELATIONAL ARCHITECTURE</a:t>
            </a:r>
          </a:p>
        </p:txBody>
      </p:sp>
      <p:sp>
        <p:nvSpPr>
          <p:cNvPr id="8" name="TextBox 7"/>
          <p:cNvSpPr txBox="1"/>
          <p:nvPr/>
        </p:nvSpPr>
        <p:spPr>
          <a:xfrm>
            <a:off x="9601200" y="6345936"/>
            <a:ext cx="1828800" cy="274320"/>
          </a:xfrm>
          <a:prstGeom prst="rect">
            <a:avLst/>
          </a:prstGeom>
          <a:noFill/>
        </p:spPr>
        <p:txBody>
          <a:bodyPr wrap="none">
            <a:spAutoFit/>
          </a:bodyPr>
          <a:lstStyle/>
          <a:p>
            <a:pPr algn="r">
              <a:defRPr sz="900" b="1">
                <a:solidFill>
                  <a:srgbClr val="10B981"/>
                </a:solidFill>
                <a:latin typeface="Calibri"/>
              </a:defRPr>
            </a:pPr>
            <a:r>
              <a:t>SLIDE  03 / 10</a:t>
            </a:r>
          </a:p>
        </p:txBody>
      </p:sp>
      <p:sp>
        <p:nvSpPr>
          <p:cNvPr id="9" name="Rounded Rectangle 8"/>
          <p:cNvSpPr/>
          <p:nvPr/>
        </p:nvSpPr>
        <p:spPr>
          <a:xfrm>
            <a:off x="731520" y="1737360"/>
            <a:ext cx="10728655" cy="91440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10362895" cy="731520"/>
          </a:xfrm>
          <a:prstGeom prst="rect">
            <a:avLst/>
          </a:prstGeom>
          <a:noFill/>
        </p:spPr>
        <p:txBody>
          <a:bodyPr wrap="square">
            <a:spAutoFit/>
          </a:bodyPr>
          <a:lstStyle/>
          <a:p>
            <a:pPr>
              <a:defRPr sz="1100" b="1">
                <a:solidFill>
                  <a:srgbClr val="0EA5E9"/>
                </a:solidFill>
                <a:latin typeface="Calibri"/>
              </a:defRPr>
            </a:pPr>
            <a:r>
              <a:t>TIER 1: PRESENTATION TIER  •  Single-Page Application (SPA)</a:t>
            </a:r>
          </a:p>
          <a:p>
            <a:pPr>
              <a:spcBef>
                <a:spcPts val="300"/>
              </a:spcBef>
              <a:defRPr sz="950">
                <a:solidFill>
                  <a:srgbClr val="F8FAFC"/>
                </a:solidFill>
                <a:latin typeface="Calibri"/>
              </a:defRPr>
            </a:pPr>
            <a:r>
              <a:t>Tech: Vanilla JS (ES6+)  •  Modern Tailwind CSS  •  FontAwesome    |    Responsibilities: User interaction, dynamic role switcher, responsive claim creation modal, and live timeline rendering.</a:t>
            </a:r>
          </a:p>
        </p:txBody>
      </p:sp>
      <p:sp>
        <p:nvSpPr>
          <p:cNvPr id="11" name="Rounded Rectangle 10"/>
          <p:cNvSpPr/>
          <p:nvPr/>
        </p:nvSpPr>
        <p:spPr>
          <a:xfrm>
            <a:off x="731520" y="2816352"/>
            <a:ext cx="10728655" cy="91440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907792"/>
            <a:ext cx="10362895" cy="731520"/>
          </a:xfrm>
          <a:prstGeom prst="rect">
            <a:avLst/>
          </a:prstGeom>
          <a:noFill/>
        </p:spPr>
        <p:txBody>
          <a:bodyPr wrap="square">
            <a:spAutoFit/>
          </a:bodyPr>
          <a:lstStyle/>
          <a:p>
            <a:pPr>
              <a:defRPr sz="1100" b="1">
                <a:solidFill>
                  <a:srgbClr val="10B981"/>
                </a:solidFill>
                <a:latin typeface="Calibri"/>
              </a:defRPr>
            </a:pPr>
            <a:r>
              <a:t>TIER 2: REST CONTROLLER TIER  •  API Gateway &amp; DTO Validation</a:t>
            </a:r>
          </a:p>
          <a:p>
            <a:pPr>
              <a:spcBef>
                <a:spcPts val="300"/>
              </a:spcBef>
              <a:defRPr sz="950">
                <a:solidFill>
                  <a:srgbClr val="F8FAFC"/>
                </a:solidFill>
                <a:latin typeface="Calibri"/>
              </a:defRPr>
            </a:pPr>
            <a:r>
              <a:t>Tech: FastAPI Endpoints  •  Pydantic Schemas  •  OpenAPI 3.0    |    Responsibilities: Deserializes JSON, enforces strict data validation (Pydantic), checks auth headers, and maps HTTP codes.</a:t>
            </a:r>
          </a:p>
        </p:txBody>
      </p:sp>
      <p:sp>
        <p:nvSpPr>
          <p:cNvPr id="13" name="Rounded Rectangle 12"/>
          <p:cNvSpPr/>
          <p:nvPr/>
        </p:nvSpPr>
        <p:spPr>
          <a:xfrm>
            <a:off x="731520" y="3895344"/>
            <a:ext cx="10728655" cy="91440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86784"/>
            <a:ext cx="10362895" cy="731520"/>
          </a:xfrm>
          <a:prstGeom prst="rect">
            <a:avLst/>
          </a:prstGeom>
          <a:noFill/>
        </p:spPr>
        <p:txBody>
          <a:bodyPr wrap="square">
            <a:spAutoFit/>
          </a:bodyPr>
          <a:lstStyle/>
          <a:p>
            <a:pPr>
              <a:defRPr sz="1100" b="1">
                <a:solidFill>
                  <a:srgbClr val="F59E0B"/>
                </a:solidFill>
                <a:latin typeface="Calibri"/>
              </a:defRPr>
            </a:pPr>
            <a:r>
              <a:t>TIER 3: BUSINESS SERVICE TIER  •  Domain Logic &amp; Rules Engine</a:t>
            </a:r>
          </a:p>
          <a:p>
            <a:pPr>
              <a:spcBef>
                <a:spcPts val="300"/>
              </a:spcBef>
              <a:defRPr sz="950">
                <a:solidFill>
                  <a:srgbClr val="F8FAFC"/>
                </a:solidFill>
                <a:latin typeface="Calibri"/>
              </a:defRPr>
            </a:pPr>
            <a:r>
              <a:t>Tech: Deterministic State Machine  •  Rules Engine  •  Audit Dispatcher    |    Responsibilities: Enforces the ₹10k approval threshold, executes the 48h duplicate scanner, and coordinates state transitions.</a:t>
            </a:r>
          </a:p>
        </p:txBody>
      </p:sp>
      <p:sp>
        <p:nvSpPr>
          <p:cNvPr id="15" name="Rounded Rectangle 14"/>
          <p:cNvSpPr/>
          <p:nvPr/>
        </p:nvSpPr>
        <p:spPr>
          <a:xfrm>
            <a:off x="731520" y="4974336"/>
            <a:ext cx="10728655" cy="914400"/>
          </a:xfrm>
          <a:prstGeom prst="roundRect">
            <a:avLst/>
          </a:prstGeom>
          <a:solidFill>
            <a:srgbClr val="111827"/>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65776"/>
            <a:ext cx="10362895" cy="731520"/>
          </a:xfrm>
          <a:prstGeom prst="rect">
            <a:avLst/>
          </a:prstGeom>
          <a:noFill/>
        </p:spPr>
        <p:txBody>
          <a:bodyPr wrap="square">
            <a:spAutoFit/>
          </a:bodyPr>
          <a:lstStyle/>
          <a:p>
            <a:pPr>
              <a:defRPr sz="1100" b="1">
                <a:solidFill>
                  <a:srgbClr val="8B5CF6"/>
                </a:solidFill>
                <a:latin typeface="Calibri"/>
              </a:defRPr>
            </a:pPr>
            <a:r>
              <a:t>TIER 4: REPOSITORY TIER  •  Persistence &amp; ACID Transactions</a:t>
            </a:r>
          </a:p>
          <a:p>
            <a:pPr>
              <a:spcBef>
                <a:spcPts val="300"/>
              </a:spcBef>
              <a:defRPr sz="950">
                <a:solidFill>
                  <a:srgbClr val="F8FAFC"/>
                </a:solidFill>
                <a:latin typeface="Calibri"/>
              </a:defRPr>
            </a:pPr>
            <a:r>
              <a:t>Tech: SQLite3 Relational DB  •  PRAGMA foreign_keys = ON  •  Indices    |    Responsibilities: Raw parameterized SQL queries (SQLi protected), foreign-key relational integrity, and atomic batch transactions.</a:t>
            </a:r>
          </a:p>
        </p:txBody>
      </p:sp>
      <p:sp>
        <p:nvSpPr>
          <p:cNvPr id="17" name="TextBox 16"/>
          <p:cNvSpPr txBox="1"/>
          <p:nvPr/>
        </p:nvSpPr>
        <p:spPr>
          <a:xfrm>
            <a:off x="731520" y="5897880"/>
            <a:ext cx="10728655" cy="320040"/>
          </a:xfrm>
          <a:prstGeom prst="rect">
            <a:avLst/>
          </a:prstGeom>
          <a:noFill/>
        </p:spPr>
        <p:txBody>
          <a:bodyPr wrap="none">
            <a:spAutoFit/>
          </a:bodyPr>
          <a:lstStyle/>
          <a:p>
            <a:pPr>
              <a:defRPr sz="950" b="1">
                <a:solidFill>
                  <a:srgbClr val="10B981"/>
                </a:solidFill>
                <a:latin typeface="Calibri"/>
              </a:defRPr>
            </a:pPr>
            <a:r>
              <a:t>Architectural Guarantee: Strict downward dependency flow (Presentation ➔ Controller ➔ Service ➔ Repository). Zero circular dependencies.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228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51560"/>
          </a:xfrm>
          <a:prstGeom prst="rect">
            <a:avLst/>
          </a:prstGeom>
          <a:noFill/>
        </p:spPr>
        <p:txBody>
          <a:bodyPr wrap="square" lIns="0" tIns="0" rIns="0" bIns="0">
            <a:spAutoFit/>
          </a:bodyPr>
          <a:lstStyle/>
          <a:p>
            <a:pPr>
              <a:defRPr sz="950" b="1">
                <a:solidFill>
                  <a:srgbClr val="10B981"/>
                </a:solidFill>
                <a:latin typeface="Calibri"/>
              </a:defRPr>
            </a:pPr>
            <a:r>
              <a:t>//  ENTERPRISE SECURITY &amp; GOVERNANCE</a:t>
            </a:r>
          </a:p>
          <a:p>
            <a:pPr>
              <a:spcBef>
                <a:spcPts val="300"/>
              </a:spcBef>
              <a:defRPr sz="2200" b="1">
                <a:solidFill>
                  <a:srgbClr val="F8FAFC"/>
                </a:solidFill>
                <a:latin typeface="Calibri"/>
              </a:defRPr>
            </a:pPr>
            <a:r>
              <a:t>Role-Based Access Control (RBAC) &amp; Security Policy</a:t>
            </a:r>
          </a:p>
          <a:p>
            <a:pPr>
              <a:spcBef>
                <a:spcPts val="200"/>
              </a:spcBef>
              <a:defRPr sz="1100">
                <a:solidFill>
                  <a:srgbClr val="94A3B8"/>
                </a:solidFill>
                <a:latin typeface="Calibri"/>
              </a:defRPr>
            </a:pPr>
            <a:r>
              <a:t>Enforces least privilege across Employee, Manager, and Finance Officer personas with strict middleware guards.</a:t>
            </a:r>
          </a:p>
        </p:txBody>
      </p:sp>
      <p:sp>
        <p:nvSpPr>
          <p:cNvPr id="5" name="Rectangle 4"/>
          <p:cNvSpPr/>
          <p:nvPr/>
        </p:nvSpPr>
        <p:spPr>
          <a:xfrm>
            <a:off x="731520" y="157276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45936"/>
            <a:ext cx="7315200" cy="274320"/>
          </a:xfrm>
          <a:prstGeom prst="rect">
            <a:avLst/>
          </a:prstGeom>
          <a:noFill/>
        </p:spPr>
        <p:txBody>
          <a:bodyPr wrap="none">
            <a:spAutoFit/>
          </a:bodyPr>
          <a:lstStyle/>
          <a:p>
            <a:pPr>
              <a:defRPr sz="850" b="1">
                <a:solidFill>
                  <a:srgbClr val="64748B"/>
                </a:solidFill>
                <a:latin typeface="Calibri"/>
              </a:defRPr>
            </a:pPr>
            <a:r>
              <a:t>APEX ENTERPRISE SYSTEMS  •  BEA CAPSTONE  •  FASTAPI + SQLITE3 RELATIONAL ARCHITECTURE</a:t>
            </a:r>
          </a:p>
        </p:txBody>
      </p:sp>
      <p:sp>
        <p:nvSpPr>
          <p:cNvPr id="8" name="TextBox 7"/>
          <p:cNvSpPr txBox="1"/>
          <p:nvPr/>
        </p:nvSpPr>
        <p:spPr>
          <a:xfrm>
            <a:off x="9601200" y="6345936"/>
            <a:ext cx="1828800" cy="274320"/>
          </a:xfrm>
          <a:prstGeom prst="rect">
            <a:avLst/>
          </a:prstGeom>
          <a:noFill/>
        </p:spPr>
        <p:txBody>
          <a:bodyPr wrap="none">
            <a:spAutoFit/>
          </a:bodyPr>
          <a:lstStyle/>
          <a:p>
            <a:pPr algn="r">
              <a:defRPr sz="900" b="1">
                <a:solidFill>
                  <a:srgbClr val="10B981"/>
                </a:solidFill>
                <a:latin typeface="Calibri"/>
              </a:defRPr>
            </a:pPr>
            <a:r>
              <a:t>SLIDE  04 / 10</a:t>
            </a:r>
          </a:p>
        </p:txBody>
      </p:sp>
      <p:sp>
        <p:nvSpPr>
          <p:cNvPr id="9" name="Rounded Rectangle 8"/>
          <p:cNvSpPr/>
          <p:nvPr/>
        </p:nvSpPr>
        <p:spPr>
          <a:xfrm>
            <a:off x="731520" y="1783080"/>
            <a:ext cx="3383280" cy="3977639"/>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74519"/>
            <a:ext cx="3054096" cy="3794759"/>
          </a:xfrm>
          <a:prstGeom prst="rect">
            <a:avLst/>
          </a:prstGeom>
          <a:noFill/>
        </p:spPr>
        <p:txBody>
          <a:bodyPr wrap="square">
            <a:spAutoFit/>
          </a:bodyPr>
          <a:lstStyle/>
          <a:p>
            <a:pPr>
              <a:defRPr sz="1200" b="1">
                <a:solidFill>
                  <a:srgbClr val="0EA5E9"/>
                </a:solidFill>
                <a:latin typeface="Calibri"/>
              </a:defRPr>
            </a:pPr>
            <a:r>
              <a:t>EMPLOYEE ROLE</a:t>
            </a:r>
          </a:p>
          <a:p>
            <a:pPr>
              <a:spcBef>
                <a:spcPts val="200"/>
              </a:spcBef>
              <a:defRPr sz="950">
                <a:solidFill>
                  <a:srgbClr val="94A3B8"/>
                </a:solidFill>
                <a:latin typeface="Calibri"/>
              </a:defRPr>
            </a:pPr>
            <a:r>
              <a:t>Standard Staff / Submitter</a:t>
            </a:r>
          </a:p>
          <a:p>
            <a:pPr>
              <a:spcBef>
                <a:spcPts val="900"/>
              </a:spcBef>
              <a:defRPr sz="950" b="0">
                <a:solidFill>
                  <a:srgbClr val="F8FAFC"/>
                </a:solidFill>
                <a:latin typeface="Calibri"/>
              </a:defRPr>
            </a:pPr>
            <a:r>
              <a:t>• Submit new expense claims with category, date, and description.</a:t>
            </a:r>
          </a:p>
          <a:p>
            <a:pPr>
              <a:spcBef>
                <a:spcPts val="900"/>
              </a:spcBef>
              <a:defRPr sz="950" b="0">
                <a:solidFill>
                  <a:srgbClr val="F8FAFC"/>
                </a:solidFill>
                <a:latin typeface="Calibri"/>
              </a:defRPr>
            </a:pPr>
            <a:r>
              <a:t>• View personal claim history (strictly scoped: WHERE user_id = ?).</a:t>
            </a:r>
          </a:p>
          <a:p>
            <a:pPr>
              <a:spcBef>
                <a:spcPts val="900"/>
              </a:spcBef>
              <a:defRPr sz="950" b="0">
                <a:solidFill>
                  <a:srgbClr val="F8FAFC"/>
                </a:solidFill>
                <a:latin typeface="Calibri"/>
              </a:defRPr>
            </a:pPr>
            <a:r>
              <a:t>• Track claim lifecycle progression in the Timeline modal.</a:t>
            </a:r>
          </a:p>
          <a:p>
            <a:pPr>
              <a:spcBef>
                <a:spcPts val="900"/>
              </a:spcBef>
              <a:defRPr sz="950" b="1">
                <a:solidFill>
                  <a:srgbClr val="F43F5E"/>
                </a:solidFill>
                <a:latin typeface="Calibri"/>
              </a:defRPr>
            </a:pPr>
            <a:r>
              <a:t>✖ STRICTLY PROHIBITED from approving, rejecting, or settling claims (HTTP 403 Forbidden).</a:t>
            </a:r>
          </a:p>
        </p:txBody>
      </p:sp>
      <p:sp>
        <p:nvSpPr>
          <p:cNvPr id="11" name="Rounded Rectangle 10"/>
          <p:cNvSpPr/>
          <p:nvPr/>
        </p:nvSpPr>
        <p:spPr>
          <a:xfrm>
            <a:off x="4398264" y="1783080"/>
            <a:ext cx="3383280" cy="3977639"/>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2856" y="1874519"/>
            <a:ext cx="3054096" cy="3794759"/>
          </a:xfrm>
          <a:prstGeom prst="rect">
            <a:avLst/>
          </a:prstGeom>
          <a:noFill/>
        </p:spPr>
        <p:txBody>
          <a:bodyPr wrap="square">
            <a:spAutoFit/>
          </a:bodyPr>
          <a:lstStyle/>
          <a:p>
            <a:pPr>
              <a:defRPr sz="1200" b="1">
                <a:solidFill>
                  <a:srgbClr val="F59E0B"/>
                </a:solidFill>
                <a:latin typeface="Calibri"/>
              </a:defRPr>
            </a:pPr>
            <a:r>
              <a:t>MANAGER ROLE</a:t>
            </a:r>
          </a:p>
          <a:p>
            <a:pPr>
              <a:spcBef>
                <a:spcPts val="200"/>
              </a:spcBef>
              <a:defRPr sz="950">
                <a:solidFill>
                  <a:srgbClr val="94A3B8"/>
                </a:solidFill>
                <a:latin typeface="Calibri"/>
              </a:defRPr>
            </a:pPr>
            <a:r>
              <a:t>Department Approver</a:t>
            </a:r>
          </a:p>
          <a:p>
            <a:pPr>
              <a:spcBef>
                <a:spcPts val="900"/>
              </a:spcBef>
              <a:defRPr sz="950" b="0">
                <a:solidFill>
                  <a:srgbClr val="F8FAFC"/>
                </a:solidFill>
                <a:latin typeface="Calibri"/>
              </a:defRPr>
            </a:pPr>
            <a:r>
              <a:t>• Inspect all submitted claims across department team members.</a:t>
            </a:r>
          </a:p>
          <a:p>
            <a:pPr>
              <a:spcBef>
                <a:spcPts val="900"/>
              </a:spcBef>
              <a:defRPr sz="950" b="0">
                <a:solidFill>
                  <a:srgbClr val="F8FAFC"/>
                </a:solidFill>
                <a:latin typeface="Calibri"/>
              </a:defRPr>
            </a:pPr>
            <a:r>
              <a:t>• AUTHORITY CAP: Approve claims with amounts &lt;= ₹10,000.</a:t>
            </a:r>
          </a:p>
          <a:p>
            <a:pPr>
              <a:spcBef>
                <a:spcPts val="900"/>
              </a:spcBef>
              <a:defRPr sz="950" b="0">
                <a:solidFill>
                  <a:srgbClr val="F8FAFC"/>
                </a:solidFill>
                <a:latin typeface="Calibri"/>
              </a:defRPr>
            </a:pPr>
            <a:r>
              <a:t>• Reject non-compliant claims with mandatory justification comment.</a:t>
            </a:r>
          </a:p>
          <a:p>
            <a:pPr>
              <a:spcBef>
                <a:spcPts val="900"/>
              </a:spcBef>
              <a:defRPr sz="950" b="1">
                <a:solidFill>
                  <a:srgbClr val="F43F5E"/>
                </a:solidFill>
                <a:latin typeface="Calibri"/>
              </a:defRPr>
            </a:pPr>
            <a:r>
              <a:t>✖ BLOCKED from approving claims &gt; ₹10,000 (Requires escalation to Finance).</a:t>
            </a:r>
          </a:p>
        </p:txBody>
      </p:sp>
      <p:sp>
        <p:nvSpPr>
          <p:cNvPr id="13" name="Rounded Rectangle 12"/>
          <p:cNvSpPr/>
          <p:nvPr/>
        </p:nvSpPr>
        <p:spPr>
          <a:xfrm>
            <a:off x="8065008" y="1783080"/>
            <a:ext cx="3383280" cy="3977639"/>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74519"/>
            <a:ext cx="3054096" cy="3794759"/>
          </a:xfrm>
          <a:prstGeom prst="rect">
            <a:avLst/>
          </a:prstGeom>
          <a:noFill/>
        </p:spPr>
        <p:txBody>
          <a:bodyPr wrap="square">
            <a:spAutoFit/>
          </a:bodyPr>
          <a:lstStyle/>
          <a:p>
            <a:pPr>
              <a:defRPr sz="1200" b="1">
                <a:solidFill>
                  <a:srgbClr val="10B981"/>
                </a:solidFill>
                <a:latin typeface="Calibri"/>
              </a:defRPr>
            </a:pPr>
            <a:r>
              <a:t>FINANCE ROLE</a:t>
            </a:r>
          </a:p>
          <a:p>
            <a:pPr>
              <a:spcBef>
                <a:spcPts val="200"/>
              </a:spcBef>
              <a:defRPr sz="950">
                <a:solidFill>
                  <a:srgbClr val="94A3B8"/>
                </a:solidFill>
                <a:latin typeface="Calibri"/>
              </a:defRPr>
            </a:pPr>
            <a:r>
              <a:t>Treasury &amp; Disbursement</a:t>
            </a:r>
          </a:p>
          <a:p>
            <a:pPr>
              <a:spcBef>
                <a:spcPts val="900"/>
              </a:spcBef>
              <a:defRPr sz="950" b="0">
                <a:solidFill>
                  <a:srgbClr val="F8FAFC"/>
                </a:solidFill>
                <a:latin typeface="Calibri"/>
              </a:defRPr>
            </a:pPr>
            <a:r>
              <a:t>• Sole authorization to approve high-value claims exceeding ₹10,000.</a:t>
            </a:r>
          </a:p>
          <a:p>
            <a:pPr>
              <a:spcBef>
                <a:spcPts val="900"/>
              </a:spcBef>
              <a:defRPr sz="950" b="0">
                <a:solidFill>
                  <a:srgbClr val="F8FAFC"/>
                </a:solidFill>
                <a:latin typeface="Calibri"/>
              </a:defRPr>
            </a:pPr>
            <a:r>
              <a:t>• Execute individual and One-Click Batch Settlement across all approved vouchers.</a:t>
            </a:r>
          </a:p>
          <a:p>
            <a:pPr>
              <a:spcBef>
                <a:spcPts val="900"/>
              </a:spcBef>
              <a:defRPr sz="950" b="0">
                <a:solidFill>
                  <a:srgbClr val="F8FAFC"/>
                </a:solidFill>
                <a:latin typeface="Calibri"/>
              </a:defRPr>
            </a:pPr>
            <a:r>
              <a:t>• Inspect the immutable Global Enterprise Audit Ledger across all users.</a:t>
            </a:r>
          </a:p>
          <a:p>
            <a:pPr>
              <a:spcBef>
                <a:spcPts val="900"/>
              </a:spcBef>
              <a:defRPr sz="950" b="0">
                <a:solidFill>
                  <a:srgbClr val="F8FAFC"/>
                </a:solidFill>
                <a:latin typeface="Calibri"/>
              </a:defRPr>
            </a:pPr>
            <a:r>
              <a:t>• Complete oversight of company-wide cash disbursement metrics.</a:t>
            </a:r>
          </a:p>
        </p:txBody>
      </p:sp>
      <p:sp>
        <p:nvSpPr>
          <p:cNvPr id="15" name="TextBox 14"/>
          <p:cNvSpPr txBox="1"/>
          <p:nvPr/>
        </p:nvSpPr>
        <p:spPr>
          <a:xfrm>
            <a:off x="731520" y="5897880"/>
            <a:ext cx="10728655" cy="320040"/>
          </a:xfrm>
          <a:prstGeom prst="rect">
            <a:avLst/>
          </a:prstGeom>
          <a:noFill/>
        </p:spPr>
        <p:txBody>
          <a:bodyPr wrap="none">
            <a:spAutoFit/>
          </a:bodyPr>
          <a:lstStyle/>
          <a:p>
            <a:pPr>
              <a:defRPr sz="950" b="1">
                <a:solidFill>
                  <a:srgbClr val="0EA5E9"/>
                </a:solidFill>
                <a:latin typeface="Calibri"/>
              </a:defRPr>
            </a:pPr>
            <a:r>
              <a:t>Security Invariant: Permissions are validated server-side in auth_middleware.py. Client UI role-switching is purely for demonstration.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228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51560"/>
          </a:xfrm>
          <a:prstGeom prst="rect">
            <a:avLst/>
          </a:prstGeom>
          <a:noFill/>
        </p:spPr>
        <p:txBody>
          <a:bodyPr wrap="square" lIns="0" tIns="0" rIns="0" bIns="0">
            <a:spAutoFit/>
          </a:bodyPr>
          <a:lstStyle/>
          <a:p>
            <a:pPr>
              <a:defRPr sz="950" b="1">
                <a:solidFill>
                  <a:srgbClr val="10B981"/>
                </a:solidFill>
                <a:latin typeface="Calibri"/>
              </a:defRPr>
            </a:pPr>
            <a:r>
              <a:t>//  DOMAIN STATE MACHINE</a:t>
            </a:r>
          </a:p>
          <a:p>
            <a:pPr>
              <a:spcBef>
                <a:spcPts val="300"/>
              </a:spcBef>
              <a:defRPr sz="2200" b="1">
                <a:solidFill>
                  <a:srgbClr val="F8FAFC"/>
                </a:solidFill>
                <a:latin typeface="Calibri"/>
              </a:defRPr>
            </a:pPr>
            <a:r>
              <a:t>Deterministic Claim State Machine &amp; Transition Rules</a:t>
            </a:r>
          </a:p>
          <a:p>
            <a:pPr>
              <a:spcBef>
                <a:spcPts val="200"/>
              </a:spcBef>
              <a:defRPr sz="1100">
                <a:solidFill>
                  <a:srgbClr val="94A3B8"/>
                </a:solidFill>
                <a:latin typeface="Calibri"/>
              </a:defRPr>
            </a:pPr>
            <a:r>
              <a:t>Guarantees that expense claims progress strictly through mathematically validated, irreversible lifecycle states.</a:t>
            </a:r>
          </a:p>
        </p:txBody>
      </p:sp>
      <p:sp>
        <p:nvSpPr>
          <p:cNvPr id="5" name="Rectangle 4"/>
          <p:cNvSpPr/>
          <p:nvPr/>
        </p:nvSpPr>
        <p:spPr>
          <a:xfrm>
            <a:off x="731520" y="157276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45936"/>
            <a:ext cx="7315200" cy="274320"/>
          </a:xfrm>
          <a:prstGeom prst="rect">
            <a:avLst/>
          </a:prstGeom>
          <a:noFill/>
        </p:spPr>
        <p:txBody>
          <a:bodyPr wrap="none">
            <a:spAutoFit/>
          </a:bodyPr>
          <a:lstStyle/>
          <a:p>
            <a:pPr>
              <a:defRPr sz="850" b="1">
                <a:solidFill>
                  <a:srgbClr val="64748B"/>
                </a:solidFill>
                <a:latin typeface="Calibri"/>
              </a:defRPr>
            </a:pPr>
            <a:r>
              <a:t>APEX ENTERPRISE SYSTEMS  •  BEA CAPSTONE  •  FASTAPI + SQLITE3 RELATIONAL ARCHITECTURE</a:t>
            </a:r>
          </a:p>
        </p:txBody>
      </p:sp>
      <p:sp>
        <p:nvSpPr>
          <p:cNvPr id="8" name="TextBox 7"/>
          <p:cNvSpPr txBox="1"/>
          <p:nvPr/>
        </p:nvSpPr>
        <p:spPr>
          <a:xfrm>
            <a:off x="9601200" y="6345936"/>
            <a:ext cx="1828800" cy="274320"/>
          </a:xfrm>
          <a:prstGeom prst="rect">
            <a:avLst/>
          </a:prstGeom>
          <a:noFill/>
        </p:spPr>
        <p:txBody>
          <a:bodyPr wrap="none">
            <a:spAutoFit/>
          </a:bodyPr>
          <a:lstStyle/>
          <a:p>
            <a:pPr algn="r">
              <a:defRPr sz="900" b="1">
                <a:solidFill>
                  <a:srgbClr val="10B981"/>
                </a:solidFill>
                <a:latin typeface="Calibri"/>
              </a:defRPr>
            </a:pPr>
            <a:r>
              <a:t>SLIDE  05 / 10</a:t>
            </a:r>
          </a:p>
        </p:txBody>
      </p:sp>
      <p:sp>
        <p:nvSpPr>
          <p:cNvPr id="9" name="Rounded Rectangle 8"/>
          <p:cNvSpPr/>
          <p:nvPr/>
        </p:nvSpPr>
        <p:spPr>
          <a:xfrm>
            <a:off x="731520" y="1783080"/>
            <a:ext cx="2468880" cy="137160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74519"/>
            <a:ext cx="2194560" cy="1188720"/>
          </a:xfrm>
          <a:prstGeom prst="rect">
            <a:avLst/>
          </a:prstGeom>
          <a:noFill/>
        </p:spPr>
        <p:txBody>
          <a:bodyPr wrap="square">
            <a:spAutoFit/>
          </a:bodyPr>
          <a:lstStyle/>
          <a:p>
            <a:pPr>
              <a:defRPr sz="1050" b="1">
                <a:solidFill>
                  <a:srgbClr val="F59E0B"/>
                </a:solidFill>
                <a:latin typeface="Calibri"/>
              </a:defRPr>
            </a:pPr>
            <a:r>
              <a:t>STATE 1: PENDING</a:t>
            </a:r>
          </a:p>
          <a:p>
            <a:pPr>
              <a:spcBef>
                <a:spcPts val="200"/>
              </a:spcBef>
              <a:defRPr sz="1150" b="1">
                <a:solidFill>
                  <a:srgbClr val="F8FAFC"/>
                </a:solidFill>
                <a:latin typeface="Calibri"/>
              </a:defRPr>
            </a:pPr>
            <a:r>
              <a:t>Claim Submitted</a:t>
            </a:r>
          </a:p>
          <a:p>
            <a:pPr>
              <a:spcBef>
                <a:spcPts val="400"/>
              </a:spcBef>
              <a:defRPr sz="850">
                <a:solidFill>
                  <a:srgbClr val="94A3B8"/>
                </a:solidFill>
                <a:latin typeface="Calibri"/>
              </a:defRPr>
            </a:pPr>
            <a:r>
              <a:t>Initial state upon filing by employee. Awaiting compliance and authority review.</a:t>
            </a:r>
          </a:p>
        </p:txBody>
      </p:sp>
      <p:sp>
        <p:nvSpPr>
          <p:cNvPr id="11" name="Rounded Rectangle 10"/>
          <p:cNvSpPr/>
          <p:nvPr/>
        </p:nvSpPr>
        <p:spPr>
          <a:xfrm>
            <a:off x="3474720" y="1783080"/>
            <a:ext cx="2468880" cy="137160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74519"/>
            <a:ext cx="2194560" cy="1188720"/>
          </a:xfrm>
          <a:prstGeom prst="rect">
            <a:avLst/>
          </a:prstGeom>
          <a:noFill/>
        </p:spPr>
        <p:txBody>
          <a:bodyPr wrap="square">
            <a:spAutoFit/>
          </a:bodyPr>
          <a:lstStyle/>
          <a:p>
            <a:pPr>
              <a:defRPr sz="1050" b="1">
                <a:solidFill>
                  <a:srgbClr val="10B981"/>
                </a:solidFill>
                <a:latin typeface="Calibri"/>
              </a:defRPr>
            </a:pPr>
            <a:r>
              <a:t>STATE 2: APPROVED</a:t>
            </a:r>
          </a:p>
          <a:p>
            <a:pPr>
              <a:spcBef>
                <a:spcPts val="200"/>
              </a:spcBef>
              <a:defRPr sz="1150" b="1">
                <a:solidFill>
                  <a:srgbClr val="F8FAFC"/>
                </a:solidFill>
                <a:latin typeface="Calibri"/>
              </a:defRPr>
            </a:pPr>
            <a:r>
              <a:t>Authorized Voucher</a:t>
            </a:r>
          </a:p>
          <a:p>
            <a:pPr>
              <a:spcBef>
                <a:spcPts val="400"/>
              </a:spcBef>
              <a:defRPr sz="850">
                <a:solidFill>
                  <a:srgbClr val="94A3B8"/>
                </a:solidFill>
                <a:latin typeface="Calibri"/>
              </a:defRPr>
            </a:pPr>
            <a:r>
              <a:t>Approved by Manager (&lt;= ₹10k) or Finance (&gt; ₹10k). Ready for treasury settlement.</a:t>
            </a:r>
          </a:p>
        </p:txBody>
      </p:sp>
      <p:sp>
        <p:nvSpPr>
          <p:cNvPr id="13" name="Rounded Rectangle 12"/>
          <p:cNvSpPr/>
          <p:nvPr/>
        </p:nvSpPr>
        <p:spPr>
          <a:xfrm>
            <a:off x="6217920" y="1783080"/>
            <a:ext cx="2468880" cy="1371600"/>
          </a:xfrm>
          <a:prstGeom prst="roundRect">
            <a:avLst/>
          </a:prstGeom>
          <a:solidFill>
            <a:srgbClr val="111827"/>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874519"/>
            <a:ext cx="2194560" cy="1188720"/>
          </a:xfrm>
          <a:prstGeom prst="rect">
            <a:avLst/>
          </a:prstGeom>
          <a:noFill/>
        </p:spPr>
        <p:txBody>
          <a:bodyPr wrap="square">
            <a:spAutoFit/>
          </a:bodyPr>
          <a:lstStyle/>
          <a:p>
            <a:pPr>
              <a:defRPr sz="1050" b="1">
                <a:solidFill>
                  <a:srgbClr val="8B5CF6"/>
                </a:solidFill>
                <a:latin typeface="Calibri"/>
              </a:defRPr>
            </a:pPr>
            <a:r>
              <a:t>STATE 3: SETTLED</a:t>
            </a:r>
          </a:p>
          <a:p>
            <a:pPr>
              <a:spcBef>
                <a:spcPts val="200"/>
              </a:spcBef>
              <a:defRPr sz="1150" b="1">
                <a:solidFill>
                  <a:srgbClr val="F8FAFC"/>
                </a:solidFill>
                <a:latin typeface="Calibri"/>
              </a:defRPr>
            </a:pPr>
            <a:r>
              <a:t>Disbursed &amp; Closed</a:t>
            </a:r>
          </a:p>
          <a:p>
            <a:pPr>
              <a:spcBef>
                <a:spcPts val="400"/>
              </a:spcBef>
              <a:defRPr sz="850">
                <a:solidFill>
                  <a:srgbClr val="94A3B8"/>
                </a:solidFill>
                <a:latin typeface="Calibri"/>
              </a:defRPr>
            </a:pPr>
            <a:r>
              <a:t>Finance executed disbursement transaction. Funds transferred. Terminal closed state.</a:t>
            </a:r>
          </a:p>
        </p:txBody>
      </p:sp>
      <p:sp>
        <p:nvSpPr>
          <p:cNvPr id="15" name="Rounded Rectangle 14"/>
          <p:cNvSpPr/>
          <p:nvPr/>
        </p:nvSpPr>
        <p:spPr>
          <a:xfrm>
            <a:off x="8961120" y="1783080"/>
            <a:ext cx="2468880" cy="1371600"/>
          </a:xfrm>
          <a:prstGeom prst="roundRect">
            <a:avLst/>
          </a:prstGeom>
          <a:solidFill>
            <a:srgbClr val="111827"/>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874519"/>
            <a:ext cx="2194560" cy="1188720"/>
          </a:xfrm>
          <a:prstGeom prst="rect">
            <a:avLst/>
          </a:prstGeom>
          <a:noFill/>
        </p:spPr>
        <p:txBody>
          <a:bodyPr wrap="square">
            <a:spAutoFit/>
          </a:bodyPr>
          <a:lstStyle/>
          <a:p>
            <a:pPr>
              <a:defRPr sz="1050" b="1">
                <a:solidFill>
                  <a:srgbClr val="F43F5E"/>
                </a:solidFill>
                <a:latin typeface="Calibri"/>
              </a:defRPr>
            </a:pPr>
            <a:r>
              <a:t>STATE 4: REJECTED</a:t>
            </a:r>
          </a:p>
          <a:p>
            <a:pPr>
              <a:spcBef>
                <a:spcPts val="200"/>
              </a:spcBef>
              <a:defRPr sz="1150" b="1">
                <a:solidFill>
                  <a:srgbClr val="F8FAFC"/>
                </a:solidFill>
                <a:latin typeface="Calibri"/>
              </a:defRPr>
            </a:pPr>
            <a:r>
              <a:t>Denied with Reason</a:t>
            </a:r>
          </a:p>
          <a:p>
            <a:pPr>
              <a:spcBef>
                <a:spcPts val="400"/>
              </a:spcBef>
              <a:defRPr sz="850">
                <a:solidFill>
                  <a:srgbClr val="94A3B8"/>
                </a:solidFill>
                <a:latin typeface="Calibri"/>
              </a:defRPr>
            </a:pPr>
            <a:r>
              <a:t>Denied by Manager or Finance with mandatory comment. Terminal state; non-resubmittable.</a:t>
            </a:r>
          </a:p>
        </p:txBody>
      </p:sp>
      <p:sp>
        <p:nvSpPr>
          <p:cNvPr id="17" name="Rounded Rectangle 16"/>
          <p:cNvSpPr/>
          <p:nvPr/>
        </p:nvSpPr>
        <p:spPr>
          <a:xfrm>
            <a:off x="731520" y="3337560"/>
            <a:ext cx="10728655" cy="2468880"/>
          </a:xfrm>
          <a:prstGeom prst="roundRect">
            <a:avLst/>
          </a:prstGeom>
          <a:solidFill>
            <a:srgbClr val="111827"/>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429000"/>
            <a:ext cx="10362895" cy="2286000"/>
          </a:xfrm>
          <a:prstGeom prst="rect">
            <a:avLst/>
          </a:prstGeom>
          <a:noFill/>
        </p:spPr>
        <p:txBody>
          <a:bodyPr wrap="square">
            <a:spAutoFit/>
          </a:bodyPr>
          <a:lstStyle/>
          <a:p>
            <a:pPr>
              <a:defRPr sz="1100" b="1">
                <a:solidFill>
                  <a:srgbClr val="0EA5E9"/>
                </a:solidFill>
                <a:latin typeface="Calibri"/>
              </a:defRPr>
            </a:pPr>
            <a:r>
              <a:t>VALIDATED TRANSITION MATRIX &amp; EDGE-CASE GUARDS (claim_service.py)</a:t>
            </a:r>
          </a:p>
          <a:p>
            <a:pPr>
              <a:spcBef>
                <a:spcPts val="500"/>
              </a:spcBef>
              <a:defRPr sz="950">
                <a:solidFill>
                  <a:srgbClr val="F8FAFC"/>
                </a:solidFill>
                <a:latin typeface="Calibri"/>
              </a:defRPr>
            </a:pPr>
            <a:r>
              <a:t>•  PENDING  ➔  APPROVED:  Valid Actor: Manager (if amount &lt;= ₹10,000) OR Finance Officer (any amount). State flips to APPROVED; emits AuditLog.</a:t>
            </a:r>
          </a:p>
          <a:p>
            <a:pPr>
              <a:spcBef>
                <a:spcPts val="500"/>
              </a:spcBef>
              <a:defRPr sz="950">
                <a:solidFill>
                  <a:srgbClr val="F8FAFC"/>
                </a:solidFill>
                <a:latin typeface="Calibri"/>
              </a:defRPr>
            </a:pPr>
            <a:r>
              <a:t>•  PENDING  ➔  REJECTED:  Valid Actor: Manager or Finance Officer. Mandatory rejection reason required; returns HTTP 422 if empty.</a:t>
            </a:r>
          </a:p>
          <a:p>
            <a:pPr>
              <a:spcBef>
                <a:spcPts val="500"/>
              </a:spcBef>
              <a:defRPr sz="950">
                <a:solidFill>
                  <a:srgbClr val="F8FAFC"/>
                </a:solidFill>
                <a:latin typeface="Calibri"/>
              </a:defRPr>
            </a:pPr>
            <a:r>
              <a:t>•  APPROVED  ➔  SETTLED:  Valid Actor: Exclusively Finance Officer. Disburses reimbursement in single or batch mode; commits immutable settlement record.</a:t>
            </a:r>
          </a:p>
          <a:p>
            <a:pPr>
              <a:spcBef>
                <a:spcPts val="500"/>
              </a:spcBef>
              <a:defRPr sz="950">
                <a:solidFill>
                  <a:srgbClr val="F8FAFC"/>
                </a:solidFill>
                <a:latin typeface="Calibri"/>
              </a:defRPr>
            </a:pPr>
            <a:r>
              <a:t>•  ILLEGAL JUMP: PENDING ➔ SETTLED:  Blocked: Returns HTTP 400 Bad Request. System enforces that no unapproved claim can ever bypass management authorization.</a:t>
            </a:r>
          </a:p>
          <a:p>
            <a:pPr>
              <a:spcBef>
                <a:spcPts val="500"/>
              </a:spcBef>
              <a:defRPr sz="950">
                <a:solidFill>
                  <a:srgbClr val="F8FAFC"/>
                </a:solidFill>
                <a:latin typeface="Calibri"/>
              </a:defRPr>
            </a:pPr>
            <a:r>
              <a:t>•  ILLEGAL JUMP: REJECTED ➔ ANY:  Blocked: REJECTED is a terminal state. System returns HTTP 400. Tampering with rejected records is strictly prevented.</a:t>
            </a:r>
          </a:p>
        </p:txBody>
      </p:sp>
      <p:sp>
        <p:nvSpPr>
          <p:cNvPr id="19" name="TextBox 18"/>
          <p:cNvSpPr txBox="1"/>
          <p:nvPr/>
        </p:nvSpPr>
        <p:spPr>
          <a:xfrm>
            <a:off x="731520" y="5897880"/>
            <a:ext cx="10728655" cy="320040"/>
          </a:xfrm>
          <a:prstGeom prst="rect">
            <a:avLst/>
          </a:prstGeom>
          <a:noFill/>
        </p:spPr>
        <p:txBody>
          <a:bodyPr wrap="none">
            <a:spAutoFit/>
          </a:bodyPr>
          <a:lstStyle/>
          <a:p>
            <a:pPr>
              <a:defRPr sz="950" b="1">
                <a:solidFill>
                  <a:srgbClr val="10B981"/>
                </a:solidFill>
                <a:latin typeface="Calibri"/>
              </a:defRPr>
            </a:pPr>
            <a:r>
              <a:t>State Pattern Verification: All status updates execute through claim_service.py with precondition assertions, preventing illegal state corruption.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228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51560"/>
          </a:xfrm>
          <a:prstGeom prst="rect">
            <a:avLst/>
          </a:prstGeom>
          <a:noFill/>
        </p:spPr>
        <p:txBody>
          <a:bodyPr wrap="square" lIns="0" tIns="0" rIns="0" bIns="0">
            <a:spAutoFit/>
          </a:bodyPr>
          <a:lstStyle/>
          <a:p>
            <a:pPr>
              <a:defRPr sz="950" b="1">
                <a:solidFill>
                  <a:srgbClr val="10B981"/>
                </a:solidFill>
                <a:latin typeface="Calibri"/>
              </a:defRPr>
            </a:pPr>
            <a:r>
              <a:t>//  ENTERPRISE BUSINESS RULES</a:t>
            </a:r>
          </a:p>
          <a:p>
            <a:pPr>
              <a:spcBef>
                <a:spcPts val="300"/>
              </a:spcBef>
              <a:defRPr sz="2200" b="1">
                <a:solidFill>
                  <a:srgbClr val="F8FAFC"/>
                </a:solidFill>
                <a:latin typeface="Calibri"/>
              </a:defRPr>
            </a:pPr>
            <a:r>
              <a:t>Business Rules Engine: Dual-Tier Threshold &amp; Anti-Fraud Scanner</a:t>
            </a:r>
          </a:p>
          <a:p>
            <a:pPr>
              <a:spcBef>
                <a:spcPts val="200"/>
              </a:spcBef>
              <a:defRPr sz="1100">
                <a:solidFill>
                  <a:srgbClr val="94A3B8"/>
                </a:solidFill>
                <a:latin typeface="Calibri"/>
              </a:defRPr>
            </a:pPr>
            <a:r>
              <a:t>Algorithmic governance rules executed prior to state persistence to eliminate human error and fraud.</a:t>
            </a:r>
          </a:p>
        </p:txBody>
      </p:sp>
      <p:sp>
        <p:nvSpPr>
          <p:cNvPr id="5" name="Rectangle 4"/>
          <p:cNvSpPr/>
          <p:nvPr/>
        </p:nvSpPr>
        <p:spPr>
          <a:xfrm>
            <a:off x="731520" y="157276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45936"/>
            <a:ext cx="7315200" cy="274320"/>
          </a:xfrm>
          <a:prstGeom prst="rect">
            <a:avLst/>
          </a:prstGeom>
          <a:noFill/>
        </p:spPr>
        <p:txBody>
          <a:bodyPr wrap="none">
            <a:spAutoFit/>
          </a:bodyPr>
          <a:lstStyle/>
          <a:p>
            <a:pPr>
              <a:defRPr sz="850" b="1">
                <a:solidFill>
                  <a:srgbClr val="64748B"/>
                </a:solidFill>
                <a:latin typeface="Calibri"/>
              </a:defRPr>
            </a:pPr>
            <a:r>
              <a:t>APEX ENTERPRISE SYSTEMS  •  BEA CAPSTONE  •  FASTAPI + SQLITE3 RELATIONAL ARCHITECTURE</a:t>
            </a:r>
          </a:p>
        </p:txBody>
      </p:sp>
      <p:sp>
        <p:nvSpPr>
          <p:cNvPr id="8" name="TextBox 7"/>
          <p:cNvSpPr txBox="1"/>
          <p:nvPr/>
        </p:nvSpPr>
        <p:spPr>
          <a:xfrm>
            <a:off x="9601200" y="6345936"/>
            <a:ext cx="1828800" cy="274320"/>
          </a:xfrm>
          <a:prstGeom prst="rect">
            <a:avLst/>
          </a:prstGeom>
          <a:noFill/>
        </p:spPr>
        <p:txBody>
          <a:bodyPr wrap="none">
            <a:spAutoFit/>
          </a:bodyPr>
          <a:lstStyle/>
          <a:p>
            <a:pPr algn="r">
              <a:defRPr sz="900" b="1">
                <a:solidFill>
                  <a:srgbClr val="10B981"/>
                </a:solidFill>
                <a:latin typeface="Calibri"/>
              </a:defRPr>
            </a:pPr>
            <a:r>
              <a:t>SLIDE  06 / 10</a:t>
            </a:r>
          </a:p>
        </p:txBody>
      </p:sp>
      <p:sp>
        <p:nvSpPr>
          <p:cNvPr id="9" name="Rounded Rectangle 8"/>
          <p:cNvSpPr/>
          <p:nvPr/>
        </p:nvSpPr>
        <p:spPr>
          <a:xfrm>
            <a:off x="731520" y="1783080"/>
            <a:ext cx="5212080" cy="406908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74519"/>
            <a:ext cx="4846320" cy="3840480"/>
          </a:xfrm>
          <a:prstGeom prst="rect">
            <a:avLst/>
          </a:prstGeom>
          <a:noFill/>
        </p:spPr>
        <p:txBody>
          <a:bodyPr wrap="square">
            <a:spAutoFit/>
          </a:bodyPr>
          <a:lstStyle/>
          <a:p>
            <a:pPr>
              <a:defRPr sz="1100" b="1">
                <a:solidFill>
                  <a:srgbClr val="F59E0B"/>
                </a:solidFill>
                <a:latin typeface="Calibri"/>
              </a:defRPr>
            </a:pPr>
            <a:r>
              <a:t>RULE 1: THE ₹10,000 DUAL-TIER DELEGATION MATRIX</a:t>
            </a:r>
          </a:p>
          <a:p>
            <a:pPr>
              <a:spcBef>
                <a:spcPts val="800"/>
              </a:spcBef>
              <a:defRPr sz="1000" b="1">
                <a:solidFill>
                  <a:srgbClr val="F8FAFC"/>
                </a:solidFill>
                <a:latin typeface="Calibri"/>
              </a:defRPr>
            </a:pPr>
            <a:r>
              <a:t>•  Threshold Boundary:</a:t>
            </a:r>
          </a:p>
          <a:p>
            <a:pPr>
              <a:defRPr sz="950">
                <a:solidFill>
                  <a:srgbClr val="94A3B8"/>
                </a:solidFill>
                <a:latin typeface="Calibri"/>
              </a:defRPr>
            </a:pPr>
            <a:r>
              <a:t>   ₹10,000.00 exact fiscal ceiling.</a:t>
            </a:r>
          </a:p>
          <a:p>
            <a:pPr>
              <a:spcBef>
                <a:spcPts val="800"/>
              </a:spcBef>
              <a:defRPr sz="1000" b="1">
                <a:solidFill>
                  <a:srgbClr val="F8FAFC"/>
                </a:solidFill>
                <a:latin typeface="Calibri"/>
              </a:defRPr>
            </a:pPr>
            <a:r>
              <a:t>•  Claims &lt;= ₹10,000:</a:t>
            </a:r>
          </a:p>
          <a:p>
            <a:pPr>
              <a:defRPr sz="950">
                <a:solidFill>
                  <a:srgbClr val="94A3B8"/>
                </a:solidFill>
                <a:latin typeface="Calibri"/>
              </a:defRPr>
            </a:pPr>
            <a:r>
              <a:t>   Department Managers possess autonomous sign-off authority for standard operational expenses.</a:t>
            </a:r>
          </a:p>
          <a:p>
            <a:pPr>
              <a:spcBef>
                <a:spcPts val="800"/>
              </a:spcBef>
              <a:defRPr sz="1000" b="1">
                <a:solidFill>
                  <a:srgbClr val="F8FAFC"/>
                </a:solidFill>
                <a:latin typeface="Calibri"/>
              </a:defRPr>
            </a:pPr>
            <a:r>
              <a:t>•  Claims &gt; ₹10,000:</a:t>
            </a:r>
          </a:p>
          <a:p>
            <a:pPr>
              <a:defRPr sz="950">
                <a:solidFill>
                  <a:srgbClr val="94A3B8"/>
                </a:solidFill>
                <a:latin typeface="Calibri"/>
              </a:defRPr>
            </a:pPr>
            <a:r>
              <a:t>   Manager approval buttons are disabled; system strictly requires Finance Officer sign-off.</a:t>
            </a:r>
          </a:p>
          <a:p>
            <a:pPr>
              <a:spcBef>
                <a:spcPts val="800"/>
              </a:spcBef>
              <a:defRPr sz="1000" b="1">
                <a:solidFill>
                  <a:srgbClr val="F8FAFC"/>
                </a:solidFill>
                <a:latin typeface="Calibri"/>
              </a:defRPr>
            </a:pPr>
            <a:r>
              <a:t>•  Enforcement Mechanism:</a:t>
            </a:r>
          </a:p>
          <a:p>
            <a:pPr>
              <a:defRPr sz="950">
                <a:solidFill>
                  <a:srgbClr val="94A3B8"/>
                </a:solidFill>
                <a:latin typeface="Calibri"/>
              </a:defRPr>
            </a:pPr>
            <a:r>
              <a:t>   If a Manager attempts to call POST /api/claims/{id}/approve on a ₹10,001 claim, claim_service.py raises HTTP 403 Forbidden.</a:t>
            </a:r>
          </a:p>
          <a:p>
            <a:pPr>
              <a:spcBef>
                <a:spcPts val="800"/>
              </a:spcBef>
              <a:defRPr sz="1000" b="1">
                <a:solidFill>
                  <a:srgbClr val="F8FAFC"/>
                </a:solidFill>
                <a:latin typeface="Calibri"/>
              </a:defRPr>
            </a:pPr>
            <a:r>
              <a:t>•  Business Objective:</a:t>
            </a:r>
          </a:p>
          <a:p>
            <a:pPr>
              <a:defRPr sz="950">
                <a:solidFill>
                  <a:srgbClr val="94A3B8"/>
                </a:solidFill>
                <a:latin typeface="Calibri"/>
              </a:defRPr>
            </a:pPr>
            <a:r>
              <a:t>   Eliminates rogue managerial approvals on high-value corporate capital expenditures.</a:t>
            </a:r>
          </a:p>
        </p:txBody>
      </p:sp>
      <p:sp>
        <p:nvSpPr>
          <p:cNvPr id="11" name="Rounded Rectangle 10"/>
          <p:cNvSpPr/>
          <p:nvPr/>
        </p:nvSpPr>
        <p:spPr>
          <a:xfrm>
            <a:off x="6217920" y="1783080"/>
            <a:ext cx="5212080" cy="406908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874519"/>
            <a:ext cx="4846320" cy="3840480"/>
          </a:xfrm>
          <a:prstGeom prst="rect">
            <a:avLst/>
          </a:prstGeom>
          <a:noFill/>
        </p:spPr>
        <p:txBody>
          <a:bodyPr wrap="square">
            <a:spAutoFit/>
          </a:bodyPr>
          <a:lstStyle/>
          <a:p>
            <a:pPr>
              <a:defRPr sz="1100" b="1">
                <a:solidFill>
                  <a:srgbClr val="0EA5E9"/>
                </a:solidFill>
                <a:latin typeface="Calibri"/>
              </a:defRPr>
            </a:pPr>
            <a:r>
              <a:t>RULE 2: 48-HOUR ALGORITHMIC DUPLICATE SCANNER</a:t>
            </a:r>
          </a:p>
          <a:p>
            <a:pPr>
              <a:spcBef>
                <a:spcPts val="800"/>
              </a:spcBef>
              <a:defRPr sz="1000" b="1">
                <a:solidFill>
                  <a:srgbClr val="F8FAFC"/>
                </a:solidFill>
                <a:latin typeface="Calibri"/>
              </a:defRPr>
            </a:pPr>
            <a:r>
              <a:t>•  Algorithmic Matching Key:</a:t>
            </a:r>
          </a:p>
          <a:p>
            <a:pPr>
              <a:defRPr sz="950">
                <a:solidFill>
                  <a:srgbClr val="94A3B8"/>
                </a:solidFill>
                <a:latin typeface="Calibri"/>
              </a:defRPr>
            </a:pPr>
            <a:r>
              <a:t>   Tuple comparison: (user_id, category, amount).</a:t>
            </a:r>
          </a:p>
          <a:p>
            <a:pPr>
              <a:spcBef>
                <a:spcPts val="800"/>
              </a:spcBef>
              <a:defRPr sz="1000" b="1">
                <a:solidFill>
                  <a:srgbClr val="F8FAFC"/>
                </a:solidFill>
                <a:latin typeface="Calibri"/>
              </a:defRPr>
            </a:pPr>
            <a:r>
              <a:t>•  Sliding Time Window:</a:t>
            </a:r>
          </a:p>
          <a:p>
            <a:pPr>
              <a:defRPr sz="950">
                <a:solidFill>
                  <a:srgbClr val="94A3B8"/>
                </a:solidFill>
                <a:latin typeface="Calibri"/>
              </a:defRPr>
            </a:pPr>
            <a:r>
              <a:t>   datetime.now() - timedelta(hours=48).</a:t>
            </a:r>
          </a:p>
          <a:p>
            <a:pPr>
              <a:spcBef>
                <a:spcPts val="800"/>
              </a:spcBef>
              <a:defRPr sz="1000" b="1">
                <a:solidFill>
                  <a:srgbClr val="F8FAFC"/>
                </a:solidFill>
                <a:latin typeface="Calibri"/>
              </a:defRPr>
            </a:pPr>
            <a:r>
              <a:t>•  Index Acceleration:</a:t>
            </a:r>
          </a:p>
          <a:p>
            <a:pPr>
              <a:defRPr sz="950">
                <a:solidFill>
                  <a:srgbClr val="94A3B8"/>
                </a:solidFill>
                <a:latin typeface="Calibri"/>
              </a:defRPr>
            </a:pPr>
            <a:r>
              <a:t>   Backed by composite SQL index: idx_claims_duplicate_check(user_id, category, amount, created_at).</a:t>
            </a:r>
          </a:p>
          <a:p>
            <a:pPr>
              <a:spcBef>
                <a:spcPts val="800"/>
              </a:spcBef>
              <a:defRPr sz="1000" b="1">
                <a:solidFill>
                  <a:srgbClr val="F8FAFC"/>
                </a:solidFill>
                <a:latin typeface="Calibri"/>
              </a:defRPr>
            </a:pPr>
            <a:r>
              <a:t>•  Non-Blocking Flagging:</a:t>
            </a:r>
          </a:p>
          <a:p>
            <a:pPr>
              <a:defRPr sz="950">
                <a:solidFill>
                  <a:srgbClr val="94A3B8"/>
                </a:solidFill>
                <a:latin typeface="Calibri"/>
              </a:defRPr>
            </a:pPr>
            <a:r>
              <a:t>   System does not abort creation; it sets is_duplicate = True and renders an Amber Warning Badge on the manager's review queue.</a:t>
            </a:r>
          </a:p>
          <a:p>
            <a:pPr>
              <a:spcBef>
                <a:spcPts val="800"/>
              </a:spcBef>
              <a:defRPr sz="1000" b="1">
                <a:solidFill>
                  <a:srgbClr val="F8FAFC"/>
                </a:solidFill>
                <a:latin typeface="Calibri"/>
              </a:defRPr>
            </a:pPr>
            <a:r>
              <a:t>•  Rule 3: Rejection Reason:</a:t>
            </a:r>
          </a:p>
          <a:p>
            <a:pPr>
              <a:defRPr sz="950">
                <a:solidFill>
                  <a:srgbClr val="94A3B8"/>
                </a:solidFill>
                <a:latin typeface="Calibri"/>
              </a:defRPr>
            </a:pPr>
            <a:r>
              <a:t>   Mandatory notes check; empty or whitespace notes return HTTP 422 Unprocessable Content.</a:t>
            </a:r>
          </a:p>
        </p:txBody>
      </p:sp>
      <p:sp>
        <p:nvSpPr>
          <p:cNvPr id="13" name="TextBox 12"/>
          <p:cNvSpPr txBox="1"/>
          <p:nvPr/>
        </p:nvSpPr>
        <p:spPr>
          <a:xfrm>
            <a:off x="731520" y="5897880"/>
            <a:ext cx="10728655" cy="320040"/>
          </a:xfrm>
          <a:prstGeom prst="rect">
            <a:avLst/>
          </a:prstGeom>
          <a:noFill/>
        </p:spPr>
        <p:txBody>
          <a:bodyPr wrap="none">
            <a:spAutoFit/>
          </a:bodyPr>
          <a:lstStyle/>
          <a:p>
            <a:pPr>
              <a:defRPr sz="950" b="1">
                <a:solidFill>
                  <a:srgbClr val="F59E0B"/>
                </a:solidFill>
                <a:latin typeface="Calibri"/>
              </a:defRPr>
            </a:pPr>
            <a:r>
              <a:t>Impact: Prevents duplicate invoice reimbursement attacks and enforces corporate financial hierarchy automatically.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228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51560"/>
          </a:xfrm>
          <a:prstGeom prst="rect">
            <a:avLst/>
          </a:prstGeom>
          <a:noFill/>
        </p:spPr>
        <p:txBody>
          <a:bodyPr wrap="square" lIns="0" tIns="0" rIns="0" bIns="0">
            <a:spAutoFit/>
          </a:bodyPr>
          <a:lstStyle/>
          <a:p>
            <a:pPr>
              <a:defRPr sz="950" b="1">
                <a:solidFill>
                  <a:srgbClr val="10B981"/>
                </a:solidFill>
                <a:latin typeface="Calibri"/>
              </a:defRPr>
            </a:pPr>
            <a:r>
              <a:t>//  PERSISTENCE &amp; ACID TRANSACTIONS</a:t>
            </a:r>
          </a:p>
          <a:p>
            <a:pPr>
              <a:spcBef>
                <a:spcPts val="300"/>
              </a:spcBef>
              <a:defRPr sz="2200" b="1">
                <a:solidFill>
                  <a:srgbClr val="F8FAFC"/>
                </a:solidFill>
                <a:latin typeface="Calibri"/>
              </a:defRPr>
            </a:pPr>
            <a:r>
              <a:t>Relational Schema Design &amp; Atomic Batch Settlement Pipeline</a:t>
            </a:r>
          </a:p>
          <a:p>
            <a:pPr>
              <a:spcBef>
                <a:spcPts val="200"/>
              </a:spcBef>
              <a:defRPr sz="1100">
                <a:solidFill>
                  <a:srgbClr val="94A3B8"/>
                </a:solidFill>
                <a:latin typeface="Calibri"/>
              </a:defRPr>
            </a:pPr>
            <a:r>
              <a:t>Normalised relational data structures with cascading foreign keys and ACID-compliant batch disbursement.</a:t>
            </a:r>
          </a:p>
        </p:txBody>
      </p:sp>
      <p:sp>
        <p:nvSpPr>
          <p:cNvPr id="5" name="Rectangle 4"/>
          <p:cNvSpPr/>
          <p:nvPr/>
        </p:nvSpPr>
        <p:spPr>
          <a:xfrm>
            <a:off x="731520" y="157276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45936"/>
            <a:ext cx="7315200" cy="274320"/>
          </a:xfrm>
          <a:prstGeom prst="rect">
            <a:avLst/>
          </a:prstGeom>
          <a:noFill/>
        </p:spPr>
        <p:txBody>
          <a:bodyPr wrap="none">
            <a:spAutoFit/>
          </a:bodyPr>
          <a:lstStyle/>
          <a:p>
            <a:pPr>
              <a:defRPr sz="850" b="1">
                <a:solidFill>
                  <a:srgbClr val="64748B"/>
                </a:solidFill>
                <a:latin typeface="Calibri"/>
              </a:defRPr>
            </a:pPr>
            <a:r>
              <a:t>APEX ENTERPRISE SYSTEMS  •  BEA CAPSTONE  •  FASTAPI + SQLITE3 RELATIONAL ARCHITECTURE</a:t>
            </a:r>
          </a:p>
        </p:txBody>
      </p:sp>
      <p:sp>
        <p:nvSpPr>
          <p:cNvPr id="8" name="TextBox 7"/>
          <p:cNvSpPr txBox="1"/>
          <p:nvPr/>
        </p:nvSpPr>
        <p:spPr>
          <a:xfrm>
            <a:off x="9601200" y="6345936"/>
            <a:ext cx="1828800" cy="274320"/>
          </a:xfrm>
          <a:prstGeom prst="rect">
            <a:avLst/>
          </a:prstGeom>
          <a:noFill/>
        </p:spPr>
        <p:txBody>
          <a:bodyPr wrap="none">
            <a:spAutoFit/>
          </a:bodyPr>
          <a:lstStyle/>
          <a:p>
            <a:pPr algn="r">
              <a:defRPr sz="900" b="1">
                <a:solidFill>
                  <a:srgbClr val="10B981"/>
                </a:solidFill>
                <a:latin typeface="Calibri"/>
              </a:defRPr>
            </a:pPr>
            <a:r>
              <a:t>SLIDE  07 / 10</a:t>
            </a:r>
          </a:p>
        </p:txBody>
      </p:sp>
      <p:sp>
        <p:nvSpPr>
          <p:cNvPr id="9" name="Rounded Rectangle 8"/>
          <p:cNvSpPr/>
          <p:nvPr/>
        </p:nvSpPr>
        <p:spPr>
          <a:xfrm>
            <a:off x="731520" y="1783080"/>
            <a:ext cx="5212080" cy="406908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74519"/>
            <a:ext cx="4846320" cy="3840480"/>
          </a:xfrm>
          <a:prstGeom prst="rect">
            <a:avLst/>
          </a:prstGeom>
          <a:noFill/>
        </p:spPr>
        <p:txBody>
          <a:bodyPr wrap="square">
            <a:spAutoFit/>
          </a:bodyPr>
          <a:lstStyle/>
          <a:p>
            <a:pPr>
              <a:defRPr sz="1100" b="1">
                <a:solidFill>
                  <a:srgbClr val="10B981"/>
                </a:solidFill>
                <a:latin typeface="Calibri"/>
              </a:defRPr>
            </a:pPr>
            <a:r>
              <a:t>RELATIONAL SCHEMA ENTITIES (3RD NORMAL FORM)</a:t>
            </a:r>
          </a:p>
          <a:p>
            <a:pPr>
              <a:spcBef>
                <a:spcPts val="700"/>
              </a:spcBef>
              <a:defRPr sz="1000" b="1">
                <a:solidFill>
                  <a:srgbClr val="F8FAFC"/>
                </a:solidFill>
                <a:latin typeface="Calibri"/>
              </a:defRPr>
            </a:pPr>
            <a:r>
              <a:t>•  Table: Users (1):</a:t>
            </a:r>
          </a:p>
          <a:p>
            <a:pPr>
              <a:defRPr sz="900">
                <a:solidFill>
                  <a:srgbClr val="94A3B8"/>
                </a:solidFill>
                <a:latin typeface="Calibri"/>
              </a:defRPr>
            </a:pPr>
            <a:r>
              <a:t>   id (PK), name, email (UNIQUE), password_hash (SHA-256), role ('EMPLOYEE'|'MANAGER'|'FINANCE'), department.</a:t>
            </a:r>
          </a:p>
          <a:p>
            <a:pPr>
              <a:spcBef>
                <a:spcPts val="700"/>
              </a:spcBef>
              <a:defRPr sz="1000" b="1">
                <a:solidFill>
                  <a:srgbClr val="F8FAFC"/>
                </a:solidFill>
                <a:latin typeface="Calibri"/>
              </a:defRPr>
            </a:pPr>
            <a:r>
              <a:t>•  Table: ExpenseClaims (N):</a:t>
            </a:r>
          </a:p>
          <a:p>
            <a:pPr>
              <a:defRPr sz="900">
                <a:solidFill>
                  <a:srgbClr val="94A3B8"/>
                </a:solidFill>
                <a:latin typeface="Calibri"/>
              </a:defRPr>
            </a:pPr>
            <a:r>
              <a:t>   id (PK), user_id (FK -&gt; Users.id), category, amount, description, expense_date, status ('PENDING'|'APPROVED'|'SETTLED'|'REJECTED'), is_duplicate (BOOLEAN).</a:t>
            </a:r>
          </a:p>
          <a:p>
            <a:pPr>
              <a:spcBef>
                <a:spcPts val="700"/>
              </a:spcBef>
              <a:defRPr sz="1000" b="1">
                <a:solidFill>
                  <a:srgbClr val="F8FAFC"/>
                </a:solidFill>
                <a:latin typeface="Calibri"/>
              </a:defRPr>
            </a:pPr>
            <a:r>
              <a:t>•  Table: AuditLogs (Immutable):</a:t>
            </a:r>
          </a:p>
          <a:p>
            <a:pPr>
              <a:defRPr sz="900">
                <a:solidFill>
                  <a:srgbClr val="94A3B8"/>
                </a:solidFill>
                <a:latin typeface="Calibri"/>
              </a:defRPr>
            </a:pPr>
            <a:r>
              <a:t>   id (PK), claim_id (FK -&gt; ExpenseClaims.id), performed_by (FK -&gt; Users.id), action, notes, timestamp (ISO-8601).</a:t>
            </a:r>
          </a:p>
          <a:p>
            <a:pPr>
              <a:spcBef>
                <a:spcPts val="700"/>
              </a:spcBef>
              <a:defRPr sz="1000" b="1">
                <a:solidFill>
                  <a:srgbClr val="F8FAFC"/>
                </a:solidFill>
                <a:latin typeface="Calibri"/>
              </a:defRPr>
            </a:pPr>
            <a:r>
              <a:t>•  Foreign Key Integrity:</a:t>
            </a:r>
          </a:p>
          <a:p>
            <a:pPr>
              <a:defRPr sz="900">
                <a:solidFill>
                  <a:srgbClr val="94A3B8"/>
                </a:solidFill>
                <a:latin typeface="Calibri"/>
              </a:defRPr>
            </a:pPr>
            <a:r>
              <a:t>   Enforced on every connection via PRAGMA foreign_keys = ON; preventing orphaned records.</a:t>
            </a:r>
          </a:p>
        </p:txBody>
      </p:sp>
      <p:sp>
        <p:nvSpPr>
          <p:cNvPr id="11" name="Rounded Rectangle 10"/>
          <p:cNvSpPr/>
          <p:nvPr/>
        </p:nvSpPr>
        <p:spPr>
          <a:xfrm>
            <a:off x="6217920" y="1783080"/>
            <a:ext cx="5212080" cy="4069080"/>
          </a:xfrm>
          <a:prstGeom prst="roundRect">
            <a:avLst/>
          </a:prstGeom>
          <a:solidFill>
            <a:srgbClr val="111827"/>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874519"/>
            <a:ext cx="4846320" cy="3840480"/>
          </a:xfrm>
          <a:prstGeom prst="rect">
            <a:avLst/>
          </a:prstGeom>
          <a:noFill/>
        </p:spPr>
        <p:txBody>
          <a:bodyPr wrap="square">
            <a:spAutoFit/>
          </a:bodyPr>
          <a:lstStyle/>
          <a:p>
            <a:pPr>
              <a:defRPr sz="1100" b="1">
                <a:solidFill>
                  <a:srgbClr val="8B5CF6"/>
                </a:solidFill>
                <a:latin typeface="Calibri"/>
              </a:defRPr>
            </a:pPr>
            <a:r>
              <a:t>ONE-CLICK BATCH SETTLEMENT (ACID PIPELINE)</a:t>
            </a:r>
          </a:p>
          <a:p>
            <a:pPr>
              <a:spcBef>
                <a:spcPts val="700"/>
              </a:spcBef>
              <a:defRPr sz="1000" b="1">
                <a:solidFill>
                  <a:srgbClr val="F8FAFC"/>
                </a:solidFill>
                <a:latin typeface="Calibri"/>
              </a:defRPr>
            </a:pPr>
            <a:r>
              <a:t>✔  Step 1: Initiation:</a:t>
            </a:r>
          </a:p>
          <a:p>
            <a:pPr>
              <a:defRPr sz="900">
                <a:solidFill>
                  <a:srgbClr val="94A3B8"/>
                </a:solidFill>
                <a:latin typeface="Calibri"/>
              </a:defRPr>
            </a:pPr>
            <a:r>
              <a:t>   Finance Officer clicks 'Settle All Approved' on the Treasury Dashboard.</a:t>
            </a:r>
          </a:p>
          <a:p>
            <a:pPr>
              <a:spcBef>
                <a:spcPts val="700"/>
              </a:spcBef>
              <a:defRPr sz="1000" b="1">
                <a:solidFill>
                  <a:srgbClr val="F8FAFC"/>
                </a:solidFill>
                <a:latin typeface="Calibri"/>
              </a:defRPr>
            </a:pPr>
            <a:r>
              <a:t>✔  Step 2: Atomic Lock:</a:t>
            </a:r>
          </a:p>
          <a:p>
            <a:pPr>
              <a:defRPr sz="900">
                <a:solidFill>
                  <a:srgbClr val="94A3B8"/>
                </a:solidFill>
                <a:latin typeface="Calibri"/>
              </a:defRPr>
            </a:pPr>
            <a:r>
              <a:t>   Backend opens a single database transaction with conn.isolation_level.</a:t>
            </a:r>
          </a:p>
          <a:p>
            <a:pPr>
              <a:spcBef>
                <a:spcPts val="700"/>
              </a:spcBef>
              <a:defRPr sz="1000" b="1">
                <a:solidFill>
                  <a:srgbClr val="F8FAFC"/>
                </a:solidFill>
                <a:latin typeface="Calibri"/>
              </a:defRPr>
            </a:pPr>
            <a:r>
              <a:t>✔  Step 3: Query &amp; Update:</a:t>
            </a:r>
          </a:p>
          <a:p>
            <a:pPr>
              <a:defRPr sz="900">
                <a:solidFill>
                  <a:srgbClr val="94A3B8"/>
                </a:solidFill>
                <a:latin typeface="Calibri"/>
              </a:defRPr>
            </a:pPr>
            <a:r>
              <a:t>   Fetches all claims WHERE status = 'APPROVED'; executes UPDATE status = 'SETTLED' in one pass.</a:t>
            </a:r>
          </a:p>
          <a:p>
            <a:pPr>
              <a:spcBef>
                <a:spcPts val="700"/>
              </a:spcBef>
              <a:defRPr sz="1000" b="1">
                <a:solidFill>
                  <a:srgbClr val="F8FAFC"/>
                </a:solidFill>
                <a:latin typeface="Calibri"/>
              </a:defRPr>
            </a:pPr>
            <a:r>
              <a:t>✔  Step 4: Audit Emission:</a:t>
            </a:r>
          </a:p>
          <a:p>
            <a:pPr>
              <a:defRPr sz="900">
                <a:solidFill>
                  <a:srgbClr val="94A3B8"/>
                </a:solidFill>
                <a:latin typeface="Calibri"/>
              </a:defRPr>
            </a:pPr>
            <a:r>
              <a:t>   Inserts corresponding AuditLogs records for every settled claim.</a:t>
            </a:r>
          </a:p>
          <a:p>
            <a:pPr>
              <a:spcBef>
                <a:spcPts val="700"/>
              </a:spcBef>
              <a:defRPr sz="1000" b="1">
                <a:solidFill>
                  <a:srgbClr val="F8FAFC"/>
                </a:solidFill>
                <a:latin typeface="Calibri"/>
              </a:defRPr>
            </a:pPr>
            <a:r>
              <a:t>✔  Step 5: Atomic Commit:</a:t>
            </a:r>
          </a:p>
          <a:p>
            <a:pPr>
              <a:defRPr sz="900">
                <a:solidFill>
                  <a:srgbClr val="94A3B8"/>
                </a:solidFill>
                <a:latin typeface="Calibri"/>
              </a:defRPr>
            </a:pPr>
            <a:r>
              <a:t>   Executes conn.commit(). If any single write fails, conn.rollback() triggers immediately.</a:t>
            </a:r>
          </a:p>
        </p:txBody>
      </p:sp>
      <p:sp>
        <p:nvSpPr>
          <p:cNvPr id="13" name="TextBox 12"/>
          <p:cNvSpPr txBox="1"/>
          <p:nvPr/>
        </p:nvSpPr>
        <p:spPr>
          <a:xfrm>
            <a:off x="731520" y="5897880"/>
            <a:ext cx="10728655" cy="320040"/>
          </a:xfrm>
          <a:prstGeom prst="rect">
            <a:avLst/>
          </a:prstGeom>
          <a:noFill/>
        </p:spPr>
        <p:txBody>
          <a:bodyPr wrap="none">
            <a:spAutoFit/>
          </a:bodyPr>
          <a:lstStyle/>
          <a:p>
            <a:pPr>
              <a:defRPr sz="950" b="1">
                <a:solidFill>
                  <a:srgbClr val="10B981"/>
                </a:solidFill>
                <a:latin typeface="Calibri"/>
              </a:defRPr>
            </a:pPr>
            <a:r>
              <a:t>ACID Safety Guarantee: All-or-nothing batch execution prevents partial disbursement states and guarantees financial reconciliation.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228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51560"/>
          </a:xfrm>
          <a:prstGeom prst="rect">
            <a:avLst/>
          </a:prstGeom>
          <a:noFill/>
        </p:spPr>
        <p:txBody>
          <a:bodyPr wrap="square" lIns="0" tIns="0" rIns="0" bIns="0">
            <a:spAutoFit/>
          </a:bodyPr>
          <a:lstStyle/>
          <a:p>
            <a:pPr>
              <a:defRPr sz="950" b="1">
                <a:solidFill>
                  <a:srgbClr val="10B981"/>
                </a:solidFill>
                <a:latin typeface="Calibri"/>
              </a:defRPr>
            </a:pPr>
            <a:r>
              <a:t>//  REGULATORY COMPLIANCE &amp; FORENSICS</a:t>
            </a:r>
          </a:p>
          <a:p>
            <a:pPr>
              <a:spcBef>
                <a:spcPts val="300"/>
              </a:spcBef>
              <a:defRPr sz="2200" b="1">
                <a:solidFill>
                  <a:srgbClr val="F8FAFC"/>
                </a:solidFill>
                <a:latin typeface="Calibri"/>
              </a:defRPr>
            </a:pPr>
            <a:r>
              <a:t>Immutable Audit Trail Architecture &amp; Dual Query Paths</a:t>
            </a:r>
          </a:p>
          <a:p>
            <a:pPr>
              <a:spcBef>
                <a:spcPts val="200"/>
              </a:spcBef>
              <a:defRPr sz="1100">
                <a:solidFill>
                  <a:srgbClr val="94A3B8"/>
                </a:solidFill>
                <a:latin typeface="Calibri"/>
              </a:defRPr>
            </a:pPr>
            <a:r>
              <a:t>Append-only ledger architecture ensuring complete non-repudiation for Sarbanes-Oxley (SOX) compliance.</a:t>
            </a:r>
          </a:p>
        </p:txBody>
      </p:sp>
      <p:sp>
        <p:nvSpPr>
          <p:cNvPr id="5" name="Rectangle 4"/>
          <p:cNvSpPr/>
          <p:nvPr/>
        </p:nvSpPr>
        <p:spPr>
          <a:xfrm>
            <a:off x="731520" y="157276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45936"/>
            <a:ext cx="7315200" cy="274320"/>
          </a:xfrm>
          <a:prstGeom prst="rect">
            <a:avLst/>
          </a:prstGeom>
          <a:noFill/>
        </p:spPr>
        <p:txBody>
          <a:bodyPr wrap="none">
            <a:spAutoFit/>
          </a:bodyPr>
          <a:lstStyle/>
          <a:p>
            <a:pPr>
              <a:defRPr sz="850" b="1">
                <a:solidFill>
                  <a:srgbClr val="64748B"/>
                </a:solidFill>
                <a:latin typeface="Calibri"/>
              </a:defRPr>
            </a:pPr>
            <a:r>
              <a:t>APEX ENTERPRISE SYSTEMS  •  BEA CAPSTONE  •  FASTAPI + SQLITE3 RELATIONAL ARCHITECTURE</a:t>
            </a:r>
          </a:p>
        </p:txBody>
      </p:sp>
      <p:sp>
        <p:nvSpPr>
          <p:cNvPr id="8" name="TextBox 7"/>
          <p:cNvSpPr txBox="1"/>
          <p:nvPr/>
        </p:nvSpPr>
        <p:spPr>
          <a:xfrm>
            <a:off x="9601200" y="6345936"/>
            <a:ext cx="1828800" cy="274320"/>
          </a:xfrm>
          <a:prstGeom prst="rect">
            <a:avLst/>
          </a:prstGeom>
          <a:noFill/>
        </p:spPr>
        <p:txBody>
          <a:bodyPr wrap="none">
            <a:spAutoFit/>
          </a:bodyPr>
          <a:lstStyle/>
          <a:p>
            <a:pPr algn="r">
              <a:defRPr sz="900" b="1">
                <a:solidFill>
                  <a:srgbClr val="10B981"/>
                </a:solidFill>
                <a:latin typeface="Calibri"/>
              </a:defRPr>
            </a:pPr>
            <a:r>
              <a:t>SLIDE  08 / 10</a:t>
            </a:r>
          </a:p>
        </p:txBody>
      </p:sp>
      <p:sp>
        <p:nvSpPr>
          <p:cNvPr id="9" name="Rounded Rectangle 8"/>
          <p:cNvSpPr/>
          <p:nvPr/>
        </p:nvSpPr>
        <p:spPr>
          <a:xfrm>
            <a:off x="731520" y="1783080"/>
            <a:ext cx="10728655" cy="169164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74519"/>
            <a:ext cx="10362895" cy="1508760"/>
          </a:xfrm>
          <a:prstGeom prst="rect">
            <a:avLst/>
          </a:prstGeom>
          <a:noFill/>
        </p:spPr>
        <p:txBody>
          <a:bodyPr wrap="square">
            <a:spAutoFit/>
          </a:bodyPr>
          <a:lstStyle/>
          <a:p>
            <a:pPr>
              <a:defRPr sz="1100" b="1">
                <a:solidFill>
                  <a:srgbClr val="10B981"/>
                </a:solidFill>
                <a:latin typeface="Calibri"/>
              </a:defRPr>
            </a:pPr>
            <a:r>
              <a:t>THE IMMUTABLE AUDIT EVENT PIPELINE (NON-REPUDIATION BY DESIGN)</a:t>
            </a:r>
          </a:p>
          <a:p>
            <a:pPr>
              <a:spcBef>
                <a:spcPts val="400"/>
              </a:spcBef>
              <a:defRPr sz="950">
                <a:solidFill>
                  <a:srgbClr val="F8FAFC"/>
                </a:solidFill>
                <a:latin typeface="Calibri"/>
              </a:defRPr>
            </a:pPr>
            <a:r>
              <a:t>•  1. Action Trigger:  Every lifecycle transition (SUBMISSION, APPROVAL, REJECTION, SETTLEMENT) emits an audit event payload.</a:t>
            </a:r>
          </a:p>
          <a:p>
            <a:pPr>
              <a:spcBef>
                <a:spcPts val="400"/>
              </a:spcBef>
              <a:defRPr sz="950">
                <a:solidFill>
                  <a:srgbClr val="F8FAFC"/>
                </a:solidFill>
                <a:latin typeface="Calibri"/>
              </a:defRPr>
            </a:pPr>
            <a:r>
              <a:t>•  2. Service Dispatch:  claim_service.py dispatches the event to audit_service.py with the actor's user_id and timestamp.</a:t>
            </a:r>
          </a:p>
          <a:p>
            <a:pPr>
              <a:spcBef>
                <a:spcPts val="400"/>
              </a:spcBef>
              <a:defRPr sz="950">
                <a:solidFill>
                  <a:srgbClr val="F8FAFC"/>
                </a:solidFill>
                <a:latin typeface="Calibri"/>
              </a:defRPr>
            </a:pPr>
            <a:r>
              <a:t>•  3. Append-Only Persistence:  AuditRepository executes INSERT INTO AuditLogs. ZERO UPDATE or DELETE statements exist in the repository.</a:t>
            </a:r>
          </a:p>
          <a:p>
            <a:pPr>
              <a:spcBef>
                <a:spcPts val="400"/>
              </a:spcBef>
              <a:defRPr sz="950">
                <a:solidFill>
                  <a:srgbClr val="F8FAFC"/>
                </a:solidFill>
                <a:latin typeface="Calibri"/>
              </a:defRPr>
            </a:pPr>
            <a:r>
              <a:t>•  4. Cryptographic Integrity:  Records are immutable; history cannot be rewritten even by database administrators.</a:t>
            </a:r>
          </a:p>
        </p:txBody>
      </p:sp>
      <p:sp>
        <p:nvSpPr>
          <p:cNvPr id="11" name="Rounded Rectangle 10"/>
          <p:cNvSpPr/>
          <p:nvPr/>
        </p:nvSpPr>
        <p:spPr>
          <a:xfrm>
            <a:off x="731520" y="3657600"/>
            <a:ext cx="5212080" cy="214884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749039"/>
            <a:ext cx="4846320" cy="1920240"/>
          </a:xfrm>
          <a:prstGeom prst="rect">
            <a:avLst/>
          </a:prstGeom>
          <a:noFill/>
        </p:spPr>
        <p:txBody>
          <a:bodyPr wrap="square">
            <a:spAutoFit/>
          </a:bodyPr>
          <a:lstStyle/>
          <a:p>
            <a:pPr>
              <a:defRPr sz="1050" b="1">
                <a:solidFill>
                  <a:srgbClr val="F59E0B"/>
                </a:solidFill>
                <a:latin typeface="Calibri"/>
              </a:defRPr>
            </a:pPr>
            <a:r>
              <a:t>QUERY PATH A: CLAIM TIMELINE MODAL</a:t>
            </a:r>
          </a:p>
          <a:p>
            <a:pPr>
              <a:spcBef>
                <a:spcPts val="300"/>
              </a:spcBef>
              <a:defRPr sz="900">
                <a:solidFill>
                  <a:srgbClr val="F8FAFC"/>
                </a:solidFill>
                <a:latin typeface="Calibri"/>
              </a:defRPr>
            </a:pPr>
            <a:r>
              <a:t>•  Scope: Granular, voucher-specific timeline history.</a:t>
            </a:r>
          </a:p>
          <a:p>
            <a:pPr>
              <a:spcBef>
                <a:spcPts val="300"/>
              </a:spcBef>
              <a:defRPr sz="900">
                <a:solidFill>
                  <a:srgbClr val="F8FAFC"/>
                </a:solidFill>
                <a:latin typeface="Calibri"/>
              </a:defRPr>
            </a:pPr>
            <a:r>
              <a:t>•  Audience: Accessible to Employees, Managers, and Finance.</a:t>
            </a:r>
          </a:p>
          <a:p>
            <a:pPr>
              <a:spcBef>
                <a:spcPts val="300"/>
              </a:spcBef>
              <a:defRPr sz="900">
                <a:solidFill>
                  <a:srgbClr val="F8FAFC"/>
                </a:solidFill>
                <a:latin typeface="Calibri"/>
              </a:defRPr>
            </a:pPr>
            <a:r>
              <a:t>•  Payload: Chronological list of state changes, actors, timestamps, and justification notes.</a:t>
            </a:r>
          </a:p>
          <a:p>
            <a:pPr>
              <a:spcBef>
                <a:spcPts val="300"/>
              </a:spcBef>
              <a:defRPr sz="900">
                <a:solidFill>
                  <a:srgbClr val="F8FAFC"/>
                </a:solidFill>
                <a:latin typeface="Calibri"/>
              </a:defRPr>
            </a:pPr>
            <a:r>
              <a:t>•  User Experience: Single click on any claim row renders an interactive vertical timeline modal.</a:t>
            </a:r>
          </a:p>
        </p:txBody>
      </p:sp>
      <p:sp>
        <p:nvSpPr>
          <p:cNvPr id="13" name="Rounded Rectangle 12"/>
          <p:cNvSpPr/>
          <p:nvPr/>
        </p:nvSpPr>
        <p:spPr>
          <a:xfrm>
            <a:off x="6217920" y="3657600"/>
            <a:ext cx="5212080" cy="214884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749039"/>
            <a:ext cx="4846320" cy="1920240"/>
          </a:xfrm>
          <a:prstGeom prst="rect">
            <a:avLst/>
          </a:prstGeom>
          <a:noFill/>
        </p:spPr>
        <p:txBody>
          <a:bodyPr wrap="square">
            <a:spAutoFit/>
          </a:bodyPr>
          <a:lstStyle/>
          <a:p>
            <a:pPr>
              <a:defRPr sz="1050" b="1">
                <a:solidFill>
                  <a:srgbClr val="0EA5E9"/>
                </a:solidFill>
                <a:latin typeface="Calibri"/>
              </a:defRPr>
            </a:pPr>
            <a:r>
              <a:t>QUERY PATH B: GLOBAL AUDIT LEDGER</a:t>
            </a:r>
          </a:p>
          <a:p>
            <a:pPr>
              <a:spcBef>
                <a:spcPts val="300"/>
              </a:spcBef>
              <a:defRPr sz="900">
                <a:solidFill>
                  <a:srgbClr val="F8FAFC"/>
                </a:solidFill>
                <a:latin typeface="Calibri"/>
              </a:defRPr>
            </a:pPr>
            <a:r>
              <a:t>•  Scope: Company-wide tabular ledger across all corporate activities.</a:t>
            </a:r>
          </a:p>
          <a:p>
            <a:pPr>
              <a:spcBef>
                <a:spcPts val="300"/>
              </a:spcBef>
              <a:defRPr sz="900">
                <a:solidFill>
                  <a:srgbClr val="F8FAFC"/>
                </a:solidFill>
                <a:latin typeface="Calibri"/>
              </a:defRPr>
            </a:pPr>
            <a:r>
              <a:t>•  Audience: Restricted strictly to Managers and Finance Officers.</a:t>
            </a:r>
          </a:p>
          <a:p>
            <a:pPr>
              <a:spcBef>
                <a:spcPts val="300"/>
              </a:spcBef>
              <a:defRPr sz="900">
                <a:solidFill>
                  <a:srgbClr val="F8FAFC"/>
                </a:solidFill>
                <a:latin typeface="Calibri"/>
              </a:defRPr>
            </a:pPr>
            <a:r>
              <a:t>•  Audit Trail: Displays claim ID, employee, action type, approving officer, notes, and timestamp.</a:t>
            </a:r>
          </a:p>
          <a:p>
            <a:pPr>
              <a:spcBef>
                <a:spcPts val="300"/>
              </a:spcBef>
              <a:defRPr sz="900">
                <a:solidFill>
                  <a:srgbClr val="F8FAFC"/>
                </a:solidFill>
                <a:latin typeface="Calibri"/>
              </a:defRPr>
            </a:pPr>
            <a:r>
              <a:t>•  Compliance: Guarantees full audit readiness for internal and external forensic investigations.</a:t>
            </a:r>
          </a:p>
        </p:txBody>
      </p:sp>
      <p:sp>
        <p:nvSpPr>
          <p:cNvPr id="15" name="TextBox 14"/>
          <p:cNvSpPr txBox="1"/>
          <p:nvPr/>
        </p:nvSpPr>
        <p:spPr>
          <a:xfrm>
            <a:off x="731520" y="5897880"/>
            <a:ext cx="10728655" cy="320040"/>
          </a:xfrm>
          <a:prstGeom prst="rect">
            <a:avLst/>
          </a:prstGeom>
          <a:noFill/>
        </p:spPr>
        <p:txBody>
          <a:bodyPr wrap="none">
            <a:spAutoFit/>
          </a:bodyPr>
          <a:lstStyle/>
          <a:p>
            <a:pPr>
              <a:defRPr sz="950" b="1">
                <a:solidFill>
                  <a:srgbClr val="10B981"/>
                </a:solidFill>
                <a:latin typeface="Calibri"/>
              </a:defRPr>
            </a:pPr>
            <a:r>
              <a:t>Forensic Assurance: Non-repudiation guarantees that any decision made by any employee or executive is permanently verifiable.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228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51560"/>
          </a:xfrm>
          <a:prstGeom prst="rect">
            <a:avLst/>
          </a:prstGeom>
          <a:noFill/>
        </p:spPr>
        <p:txBody>
          <a:bodyPr wrap="square" lIns="0" tIns="0" rIns="0" bIns="0">
            <a:spAutoFit/>
          </a:bodyPr>
          <a:lstStyle/>
          <a:p>
            <a:pPr>
              <a:defRPr sz="950" b="1">
                <a:solidFill>
                  <a:srgbClr val="10B981"/>
                </a:solidFill>
                <a:latin typeface="Calibri"/>
              </a:defRPr>
            </a:pPr>
            <a:r>
              <a:t>//  SYSTEM VERIFICATION &amp; WALKTHROUGH</a:t>
            </a:r>
          </a:p>
          <a:p>
            <a:pPr>
              <a:spcBef>
                <a:spcPts val="300"/>
              </a:spcBef>
              <a:defRPr sz="2200" b="1">
                <a:solidFill>
                  <a:srgbClr val="F8FAFC"/>
                </a:solidFill>
                <a:latin typeface="Calibri"/>
              </a:defRPr>
            </a:pPr>
            <a:r>
              <a:t>Live System Demonstration Playbook: 4-Phase Persona Walkthrough</a:t>
            </a:r>
          </a:p>
          <a:p>
            <a:pPr>
              <a:spcBef>
                <a:spcPts val="200"/>
              </a:spcBef>
              <a:defRPr sz="1100">
                <a:solidFill>
                  <a:srgbClr val="94A3B8"/>
                </a:solidFill>
                <a:latin typeface="Calibri"/>
              </a:defRPr>
            </a:pPr>
            <a:r>
              <a:t>Demonstrating end-to-end functionality across Employee, Manager, and Finance roles on the running server.</a:t>
            </a:r>
          </a:p>
        </p:txBody>
      </p:sp>
      <p:sp>
        <p:nvSpPr>
          <p:cNvPr id="5" name="Rectangle 4"/>
          <p:cNvSpPr/>
          <p:nvPr/>
        </p:nvSpPr>
        <p:spPr>
          <a:xfrm>
            <a:off x="731520" y="157276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45936"/>
            <a:ext cx="7315200" cy="274320"/>
          </a:xfrm>
          <a:prstGeom prst="rect">
            <a:avLst/>
          </a:prstGeom>
          <a:noFill/>
        </p:spPr>
        <p:txBody>
          <a:bodyPr wrap="none">
            <a:spAutoFit/>
          </a:bodyPr>
          <a:lstStyle/>
          <a:p>
            <a:pPr>
              <a:defRPr sz="850" b="1">
                <a:solidFill>
                  <a:srgbClr val="64748B"/>
                </a:solidFill>
                <a:latin typeface="Calibri"/>
              </a:defRPr>
            </a:pPr>
            <a:r>
              <a:t>APEX ENTERPRISE SYSTEMS  •  BEA CAPSTONE  •  FASTAPI + SQLITE3 RELATIONAL ARCHITECTURE</a:t>
            </a:r>
          </a:p>
        </p:txBody>
      </p:sp>
      <p:sp>
        <p:nvSpPr>
          <p:cNvPr id="8" name="TextBox 7"/>
          <p:cNvSpPr txBox="1"/>
          <p:nvPr/>
        </p:nvSpPr>
        <p:spPr>
          <a:xfrm>
            <a:off x="9601200" y="6345936"/>
            <a:ext cx="1828800" cy="274320"/>
          </a:xfrm>
          <a:prstGeom prst="rect">
            <a:avLst/>
          </a:prstGeom>
          <a:noFill/>
        </p:spPr>
        <p:txBody>
          <a:bodyPr wrap="none">
            <a:spAutoFit/>
          </a:bodyPr>
          <a:lstStyle/>
          <a:p>
            <a:pPr algn="r">
              <a:defRPr sz="900" b="1">
                <a:solidFill>
                  <a:srgbClr val="10B981"/>
                </a:solidFill>
                <a:latin typeface="Calibri"/>
              </a:defRPr>
            </a:pPr>
            <a:r>
              <a:t>SLIDE  09 / 10</a:t>
            </a:r>
          </a:p>
        </p:txBody>
      </p:sp>
      <p:sp>
        <p:nvSpPr>
          <p:cNvPr id="9" name="Rounded Rectangle 8"/>
          <p:cNvSpPr/>
          <p:nvPr/>
        </p:nvSpPr>
        <p:spPr>
          <a:xfrm>
            <a:off x="731520" y="1783080"/>
            <a:ext cx="2468880" cy="3977639"/>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74519"/>
            <a:ext cx="2194560" cy="3794759"/>
          </a:xfrm>
          <a:prstGeom prst="rect">
            <a:avLst/>
          </a:prstGeom>
          <a:noFill/>
        </p:spPr>
        <p:txBody>
          <a:bodyPr wrap="square">
            <a:spAutoFit/>
          </a:bodyPr>
          <a:lstStyle/>
          <a:p>
            <a:pPr>
              <a:defRPr sz="1100" b="1">
                <a:solidFill>
                  <a:srgbClr val="0EA5E9"/>
                </a:solidFill>
                <a:latin typeface="Calibri"/>
              </a:defRPr>
            </a:pPr>
            <a:r>
              <a:t>PHASE 1: EMPLOYEE</a:t>
            </a:r>
          </a:p>
          <a:p>
            <a:pPr>
              <a:spcBef>
                <a:spcPts val="200"/>
              </a:spcBef>
              <a:defRPr sz="950" b="1">
                <a:solidFill>
                  <a:srgbClr val="F8FAFC"/>
                </a:solidFill>
                <a:latin typeface="Calibri"/>
              </a:defRPr>
            </a:pPr>
            <a:r>
              <a:t>Alice Jenkins (Engineering)</a:t>
            </a:r>
          </a:p>
          <a:p>
            <a:pPr>
              <a:spcBef>
                <a:spcPts val="800"/>
              </a:spcBef>
              <a:defRPr sz="950">
                <a:solidFill>
                  <a:srgbClr val="94A3B8"/>
                </a:solidFill>
                <a:latin typeface="Calibri"/>
              </a:defRPr>
            </a:pPr>
            <a:r>
              <a:t>➔  Select 'Alice Jenkins' in Header Role Switcher.</a:t>
            </a:r>
          </a:p>
          <a:p>
            <a:pPr>
              <a:spcBef>
                <a:spcPts val="800"/>
              </a:spcBef>
              <a:defRPr sz="950">
                <a:solidFill>
                  <a:srgbClr val="94A3B8"/>
                </a:solidFill>
                <a:latin typeface="Calibri"/>
              </a:defRPr>
            </a:pPr>
            <a:r>
              <a:t>➔  Click '+ Submit New Claim'.</a:t>
            </a:r>
          </a:p>
          <a:p>
            <a:pPr>
              <a:spcBef>
                <a:spcPts val="800"/>
              </a:spcBef>
              <a:defRPr sz="950">
                <a:solidFill>
                  <a:srgbClr val="94A3B8"/>
                </a:solidFill>
                <a:latin typeface="Calibri"/>
              </a:defRPr>
            </a:pPr>
            <a:r>
              <a:t>➔  Fill ₹4,250 for Travel; submit claim.</a:t>
            </a:r>
          </a:p>
          <a:p>
            <a:pPr>
              <a:spcBef>
                <a:spcPts val="800"/>
              </a:spcBef>
              <a:defRPr sz="950">
                <a:solidFill>
                  <a:srgbClr val="94A3B8"/>
                </a:solidFill>
                <a:latin typeface="Calibri"/>
              </a:defRPr>
            </a:pPr>
            <a:r>
              <a:t>➔  Observe live 48h duplicate warning badge.</a:t>
            </a:r>
          </a:p>
        </p:txBody>
      </p:sp>
      <p:sp>
        <p:nvSpPr>
          <p:cNvPr id="11" name="Rounded Rectangle 10"/>
          <p:cNvSpPr/>
          <p:nvPr/>
        </p:nvSpPr>
        <p:spPr>
          <a:xfrm>
            <a:off x="3474720" y="1783080"/>
            <a:ext cx="2468880" cy="3977639"/>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74519"/>
            <a:ext cx="2194560" cy="3794759"/>
          </a:xfrm>
          <a:prstGeom prst="rect">
            <a:avLst/>
          </a:prstGeom>
          <a:noFill/>
        </p:spPr>
        <p:txBody>
          <a:bodyPr wrap="square">
            <a:spAutoFit/>
          </a:bodyPr>
          <a:lstStyle/>
          <a:p>
            <a:pPr>
              <a:defRPr sz="1100" b="1">
                <a:solidFill>
                  <a:srgbClr val="F59E0B"/>
                </a:solidFill>
                <a:latin typeface="Calibri"/>
              </a:defRPr>
            </a:pPr>
            <a:r>
              <a:t>PHASE 2: MANAGER</a:t>
            </a:r>
          </a:p>
          <a:p>
            <a:pPr>
              <a:spcBef>
                <a:spcPts val="200"/>
              </a:spcBef>
              <a:defRPr sz="950" b="1">
                <a:solidFill>
                  <a:srgbClr val="F8FAFC"/>
                </a:solidFill>
                <a:latin typeface="Calibri"/>
              </a:defRPr>
            </a:pPr>
            <a:r>
              <a:t>Bob Martinez (Engineering)</a:t>
            </a:r>
          </a:p>
          <a:p>
            <a:pPr>
              <a:spcBef>
                <a:spcPts val="800"/>
              </a:spcBef>
              <a:defRPr sz="950">
                <a:solidFill>
                  <a:srgbClr val="94A3B8"/>
                </a:solidFill>
                <a:latin typeface="Calibri"/>
              </a:defRPr>
            </a:pPr>
            <a:r>
              <a:t>➔  Switch role to 'Bob Martinez'.</a:t>
            </a:r>
          </a:p>
          <a:p>
            <a:pPr>
              <a:spcBef>
                <a:spcPts val="800"/>
              </a:spcBef>
              <a:defRPr sz="950">
                <a:solidFill>
                  <a:srgbClr val="94A3B8"/>
                </a:solidFill>
                <a:latin typeface="Calibri"/>
              </a:defRPr>
            </a:pPr>
            <a:r>
              <a:t>➔  Inspect Department Approval Queue.</a:t>
            </a:r>
          </a:p>
          <a:p>
            <a:pPr>
              <a:spcBef>
                <a:spcPts val="800"/>
              </a:spcBef>
              <a:defRPr sz="950">
                <a:solidFill>
                  <a:srgbClr val="94A3B8"/>
                </a:solidFill>
                <a:latin typeface="Calibri"/>
              </a:defRPr>
            </a:pPr>
            <a:r>
              <a:t>➔  Observe ₹45,000 claim locked ('Needs Finance').</a:t>
            </a:r>
          </a:p>
          <a:p>
            <a:pPr>
              <a:spcBef>
                <a:spcPts val="800"/>
              </a:spcBef>
              <a:defRPr sz="950">
                <a:solidFill>
                  <a:srgbClr val="94A3B8"/>
                </a:solidFill>
                <a:latin typeface="Calibri"/>
              </a:defRPr>
            </a:pPr>
            <a:r>
              <a:t>➔  Click 'Reject' on a claim; submit mandatory justification.</a:t>
            </a:r>
          </a:p>
        </p:txBody>
      </p:sp>
      <p:sp>
        <p:nvSpPr>
          <p:cNvPr id="13" name="Rounded Rectangle 12"/>
          <p:cNvSpPr/>
          <p:nvPr/>
        </p:nvSpPr>
        <p:spPr>
          <a:xfrm>
            <a:off x="6217920" y="1783080"/>
            <a:ext cx="2468880" cy="3977639"/>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874519"/>
            <a:ext cx="2194560" cy="3794759"/>
          </a:xfrm>
          <a:prstGeom prst="rect">
            <a:avLst/>
          </a:prstGeom>
          <a:noFill/>
        </p:spPr>
        <p:txBody>
          <a:bodyPr wrap="square">
            <a:spAutoFit/>
          </a:bodyPr>
          <a:lstStyle/>
          <a:p>
            <a:pPr>
              <a:defRPr sz="1100" b="1">
                <a:solidFill>
                  <a:srgbClr val="10B981"/>
                </a:solidFill>
                <a:latin typeface="Calibri"/>
              </a:defRPr>
            </a:pPr>
            <a:r>
              <a:t>PHASE 3: FINANCE</a:t>
            </a:r>
          </a:p>
          <a:p>
            <a:pPr>
              <a:spcBef>
                <a:spcPts val="200"/>
              </a:spcBef>
              <a:defRPr sz="950" b="1">
                <a:solidFill>
                  <a:srgbClr val="F8FAFC"/>
                </a:solidFill>
                <a:latin typeface="Calibri"/>
              </a:defRPr>
            </a:pPr>
            <a:r>
              <a:t>Carol Vance (Treasury)</a:t>
            </a:r>
          </a:p>
          <a:p>
            <a:pPr>
              <a:spcBef>
                <a:spcPts val="800"/>
              </a:spcBef>
              <a:defRPr sz="950">
                <a:solidFill>
                  <a:srgbClr val="94A3B8"/>
                </a:solidFill>
                <a:latin typeface="Calibri"/>
              </a:defRPr>
            </a:pPr>
            <a:r>
              <a:t>➔  Switch role to 'Carol Vance'.</a:t>
            </a:r>
          </a:p>
          <a:p>
            <a:pPr>
              <a:spcBef>
                <a:spcPts val="800"/>
              </a:spcBef>
              <a:defRPr sz="950">
                <a:solidFill>
                  <a:srgbClr val="94A3B8"/>
                </a:solidFill>
                <a:latin typeface="Calibri"/>
              </a:defRPr>
            </a:pPr>
            <a:r>
              <a:t>➔  Authorize high-value claim (&gt; ₹10k).</a:t>
            </a:r>
          </a:p>
          <a:p>
            <a:pPr>
              <a:spcBef>
                <a:spcPts val="800"/>
              </a:spcBef>
              <a:defRPr sz="950">
                <a:solidFill>
                  <a:srgbClr val="94A3B8"/>
                </a:solidFill>
                <a:latin typeface="Calibri"/>
              </a:defRPr>
            </a:pPr>
            <a:r>
              <a:t>➔  Click 'Settle All Approved (₹52,000)' button.</a:t>
            </a:r>
          </a:p>
          <a:p>
            <a:pPr>
              <a:spcBef>
                <a:spcPts val="800"/>
              </a:spcBef>
              <a:defRPr sz="950">
                <a:solidFill>
                  <a:srgbClr val="94A3B8"/>
                </a:solidFill>
                <a:latin typeface="Calibri"/>
              </a:defRPr>
            </a:pPr>
            <a:r>
              <a:t>➔  Observe atomic batch status update to SETTLED.</a:t>
            </a:r>
          </a:p>
        </p:txBody>
      </p:sp>
      <p:sp>
        <p:nvSpPr>
          <p:cNvPr id="15" name="Rounded Rectangle 14"/>
          <p:cNvSpPr/>
          <p:nvPr/>
        </p:nvSpPr>
        <p:spPr>
          <a:xfrm>
            <a:off x="8961120" y="1783080"/>
            <a:ext cx="2468880" cy="3977639"/>
          </a:xfrm>
          <a:prstGeom prst="roundRect">
            <a:avLst/>
          </a:prstGeom>
          <a:solidFill>
            <a:srgbClr val="111827"/>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874519"/>
            <a:ext cx="2194560" cy="3794759"/>
          </a:xfrm>
          <a:prstGeom prst="rect">
            <a:avLst/>
          </a:prstGeom>
          <a:noFill/>
        </p:spPr>
        <p:txBody>
          <a:bodyPr wrap="square">
            <a:spAutoFit/>
          </a:bodyPr>
          <a:lstStyle/>
          <a:p>
            <a:pPr>
              <a:defRPr sz="1100" b="1">
                <a:solidFill>
                  <a:srgbClr val="8B5CF6"/>
                </a:solidFill>
                <a:latin typeface="Calibri"/>
              </a:defRPr>
            </a:pPr>
            <a:r>
              <a:t>PHASE 4: AUDIT &amp; API</a:t>
            </a:r>
          </a:p>
          <a:p>
            <a:pPr>
              <a:spcBef>
                <a:spcPts val="200"/>
              </a:spcBef>
              <a:defRPr sz="950" b="1">
                <a:solidFill>
                  <a:srgbClr val="F8FAFC"/>
                </a:solidFill>
                <a:latin typeface="Calibri"/>
              </a:defRPr>
            </a:pPr>
            <a:r>
              <a:t>Audit &amp; OpenAPI Docs</a:t>
            </a:r>
          </a:p>
          <a:p>
            <a:pPr>
              <a:spcBef>
                <a:spcPts val="800"/>
              </a:spcBef>
              <a:defRPr sz="950">
                <a:solidFill>
                  <a:srgbClr val="94A3B8"/>
                </a:solidFill>
                <a:latin typeface="Calibri"/>
              </a:defRPr>
            </a:pPr>
            <a:r>
              <a:t>➔  Open Claim Timeline Modal on Alice's voucher.</a:t>
            </a:r>
          </a:p>
          <a:p>
            <a:pPr>
              <a:spcBef>
                <a:spcPts val="800"/>
              </a:spcBef>
              <a:defRPr sz="950">
                <a:solidFill>
                  <a:srgbClr val="94A3B8"/>
                </a:solidFill>
                <a:latin typeface="Calibri"/>
              </a:defRPr>
            </a:pPr>
            <a:r>
              <a:t>➔  Switch to Global Audit Ledger view.</a:t>
            </a:r>
          </a:p>
          <a:p>
            <a:pPr>
              <a:spcBef>
                <a:spcPts val="800"/>
              </a:spcBef>
              <a:defRPr sz="950">
                <a:solidFill>
                  <a:srgbClr val="94A3B8"/>
                </a:solidFill>
                <a:latin typeface="Calibri"/>
              </a:defRPr>
            </a:pPr>
            <a:r>
              <a:t>➔  Navigate to http://127.0.0.1:8000/docs.</a:t>
            </a:r>
          </a:p>
          <a:p>
            <a:pPr>
              <a:spcBef>
                <a:spcPts val="800"/>
              </a:spcBef>
              <a:defRPr sz="950">
                <a:solidFill>
                  <a:srgbClr val="94A3B8"/>
                </a:solidFill>
                <a:latin typeface="Calibri"/>
              </a:defRPr>
            </a:pPr>
            <a:r>
              <a:t>➔  Execute live Swagger API call in OpenAPI UI.</a:t>
            </a:r>
          </a:p>
        </p:txBody>
      </p:sp>
      <p:sp>
        <p:nvSpPr>
          <p:cNvPr id="17" name="TextBox 16"/>
          <p:cNvSpPr txBox="1"/>
          <p:nvPr/>
        </p:nvSpPr>
        <p:spPr>
          <a:xfrm>
            <a:off x="731520" y="5897880"/>
            <a:ext cx="10728655" cy="320040"/>
          </a:xfrm>
          <a:prstGeom prst="rect">
            <a:avLst/>
          </a:prstGeom>
          <a:noFill/>
        </p:spPr>
        <p:txBody>
          <a:bodyPr wrap="none">
            <a:spAutoFit/>
          </a:bodyPr>
          <a:lstStyle/>
          <a:p>
            <a:pPr>
              <a:defRPr sz="950" b="1">
                <a:solidFill>
                  <a:srgbClr val="10B981"/>
                </a:solidFill>
                <a:latin typeface="Calibri"/>
              </a:defRPr>
            </a:pPr>
            <a:r>
              <a:t>Live Execution Endpoint: http://127.0.0.1:8000  •  Interactive Swagger Documentation: http://127.0.0.1:8000/docs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228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51560"/>
          </a:xfrm>
          <a:prstGeom prst="rect">
            <a:avLst/>
          </a:prstGeom>
          <a:noFill/>
        </p:spPr>
        <p:txBody>
          <a:bodyPr wrap="square" lIns="0" tIns="0" rIns="0" bIns="0">
            <a:spAutoFit/>
          </a:bodyPr>
          <a:lstStyle/>
          <a:p>
            <a:pPr>
              <a:defRPr sz="950" b="1">
                <a:solidFill>
                  <a:srgbClr val="10B981"/>
                </a:solidFill>
                <a:latin typeface="Calibri"/>
              </a:defRPr>
            </a:pPr>
            <a:r>
              <a:t>//  QUALITY ASSURANCE &amp; CONCLUSION</a:t>
            </a:r>
          </a:p>
          <a:p>
            <a:pPr>
              <a:spcBef>
                <a:spcPts val="300"/>
              </a:spcBef>
              <a:defRPr sz="2200" b="1">
                <a:solidFill>
                  <a:srgbClr val="F8FAFC"/>
                </a:solidFill>
                <a:latin typeface="Calibri"/>
              </a:defRPr>
            </a:pPr>
            <a:r>
              <a:t>Automated Test Suite (7/7 Passing) &amp; Architectural Conclusion</a:t>
            </a:r>
          </a:p>
          <a:p>
            <a:pPr>
              <a:spcBef>
                <a:spcPts val="200"/>
              </a:spcBef>
              <a:defRPr sz="1100">
                <a:solidFill>
                  <a:srgbClr val="94A3B8"/>
                </a:solidFill>
                <a:latin typeface="Calibri"/>
              </a:defRPr>
            </a:pPr>
            <a:r>
              <a:t>Continuous integration verification and summary of key enterprise software engineering competencies.</a:t>
            </a:r>
          </a:p>
        </p:txBody>
      </p:sp>
      <p:sp>
        <p:nvSpPr>
          <p:cNvPr id="5" name="Rectangle 4"/>
          <p:cNvSpPr/>
          <p:nvPr/>
        </p:nvSpPr>
        <p:spPr>
          <a:xfrm>
            <a:off x="731520" y="157276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45936"/>
            <a:ext cx="7315200" cy="274320"/>
          </a:xfrm>
          <a:prstGeom prst="rect">
            <a:avLst/>
          </a:prstGeom>
          <a:noFill/>
        </p:spPr>
        <p:txBody>
          <a:bodyPr wrap="none">
            <a:spAutoFit/>
          </a:bodyPr>
          <a:lstStyle/>
          <a:p>
            <a:pPr>
              <a:defRPr sz="850" b="1">
                <a:solidFill>
                  <a:srgbClr val="64748B"/>
                </a:solidFill>
                <a:latin typeface="Calibri"/>
              </a:defRPr>
            </a:pPr>
            <a:r>
              <a:t>APEX ENTERPRISE SYSTEMS  •  BEA CAPSTONE  •  FASTAPI + SQLITE3 RELATIONAL ARCHITECTURE</a:t>
            </a:r>
          </a:p>
        </p:txBody>
      </p:sp>
      <p:sp>
        <p:nvSpPr>
          <p:cNvPr id="8" name="TextBox 7"/>
          <p:cNvSpPr txBox="1"/>
          <p:nvPr/>
        </p:nvSpPr>
        <p:spPr>
          <a:xfrm>
            <a:off x="9601200" y="6345936"/>
            <a:ext cx="1828800" cy="274320"/>
          </a:xfrm>
          <a:prstGeom prst="rect">
            <a:avLst/>
          </a:prstGeom>
          <a:noFill/>
        </p:spPr>
        <p:txBody>
          <a:bodyPr wrap="none">
            <a:spAutoFit/>
          </a:bodyPr>
          <a:lstStyle/>
          <a:p>
            <a:pPr algn="r">
              <a:defRPr sz="900" b="1">
                <a:solidFill>
                  <a:srgbClr val="10B981"/>
                </a:solidFill>
                <a:latin typeface="Calibri"/>
              </a:defRPr>
            </a:pPr>
            <a:r>
              <a:t>SLIDE  10 / 10</a:t>
            </a:r>
          </a:p>
        </p:txBody>
      </p:sp>
      <p:sp>
        <p:nvSpPr>
          <p:cNvPr id="9" name="Rounded Rectangle 8"/>
          <p:cNvSpPr/>
          <p:nvPr/>
        </p:nvSpPr>
        <p:spPr>
          <a:xfrm>
            <a:off x="731520" y="1783080"/>
            <a:ext cx="1444752" cy="109728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74519"/>
            <a:ext cx="1298448" cy="914400"/>
          </a:xfrm>
          <a:prstGeom prst="rect">
            <a:avLst/>
          </a:prstGeom>
          <a:noFill/>
        </p:spPr>
        <p:txBody>
          <a:bodyPr wrap="square">
            <a:spAutoFit/>
          </a:bodyPr>
          <a:lstStyle/>
          <a:p>
            <a:pPr>
              <a:defRPr sz="950" b="1">
                <a:solidFill>
                  <a:srgbClr val="0EA5E9"/>
                </a:solidFill>
                <a:latin typeface="Calibri"/>
              </a:defRPr>
            </a:pPr>
            <a:r>
              <a:t>Test 01</a:t>
            </a:r>
          </a:p>
          <a:p>
            <a:pPr>
              <a:spcBef>
                <a:spcPts val="200"/>
              </a:spcBef>
              <a:defRPr sz="850" b="1">
                <a:solidFill>
                  <a:srgbClr val="F8FAFC"/>
                </a:solidFill>
                <a:latin typeface="Calibri"/>
              </a:defRPr>
            </a:pPr>
            <a:r>
              <a:t>Database Schema &amp; Seeder</a:t>
            </a:r>
          </a:p>
          <a:p>
            <a:pPr>
              <a:spcBef>
                <a:spcPts val="300"/>
              </a:spcBef>
              <a:defRPr sz="900" b="1">
                <a:solidFill>
                  <a:srgbClr val="10B981"/>
                </a:solidFill>
                <a:latin typeface="Calibri"/>
              </a:defRPr>
            </a:pPr>
            <a:r>
              <a:t>✔ PASSED</a:t>
            </a:r>
          </a:p>
        </p:txBody>
      </p:sp>
      <p:sp>
        <p:nvSpPr>
          <p:cNvPr id="11" name="Rounded Rectangle 10"/>
          <p:cNvSpPr/>
          <p:nvPr/>
        </p:nvSpPr>
        <p:spPr>
          <a:xfrm>
            <a:off x="2276856" y="1783080"/>
            <a:ext cx="1444752" cy="109728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50008" y="1874519"/>
            <a:ext cx="1298448" cy="914400"/>
          </a:xfrm>
          <a:prstGeom prst="rect">
            <a:avLst/>
          </a:prstGeom>
          <a:noFill/>
        </p:spPr>
        <p:txBody>
          <a:bodyPr wrap="square">
            <a:spAutoFit/>
          </a:bodyPr>
          <a:lstStyle/>
          <a:p>
            <a:pPr>
              <a:defRPr sz="950" b="1">
                <a:solidFill>
                  <a:srgbClr val="F59E0B"/>
                </a:solidFill>
                <a:latin typeface="Calibri"/>
              </a:defRPr>
            </a:pPr>
            <a:r>
              <a:t>Test 02</a:t>
            </a:r>
          </a:p>
          <a:p>
            <a:pPr>
              <a:spcBef>
                <a:spcPts val="200"/>
              </a:spcBef>
              <a:defRPr sz="850" b="1">
                <a:solidFill>
                  <a:srgbClr val="F8FAFC"/>
                </a:solidFill>
                <a:latin typeface="Calibri"/>
              </a:defRPr>
            </a:pPr>
            <a:r>
              <a:t>48h Duplicate Scanner</a:t>
            </a:r>
          </a:p>
          <a:p>
            <a:pPr>
              <a:spcBef>
                <a:spcPts val="300"/>
              </a:spcBef>
              <a:defRPr sz="900" b="1">
                <a:solidFill>
                  <a:srgbClr val="10B981"/>
                </a:solidFill>
                <a:latin typeface="Calibri"/>
              </a:defRPr>
            </a:pPr>
            <a:r>
              <a:t>✔ PASSED</a:t>
            </a:r>
          </a:p>
        </p:txBody>
      </p:sp>
      <p:sp>
        <p:nvSpPr>
          <p:cNvPr id="13" name="Rounded Rectangle 12"/>
          <p:cNvSpPr/>
          <p:nvPr/>
        </p:nvSpPr>
        <p:spPr>
          <a:xfrm>
            <a:off x="3822192" y="1783080"/>
            <a:ext cx="1444752" cy="109728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95344" y="1874519"/>
            <a:ext cx="1298448" cy="914400"/>
          </a:xfrm>
          <a:prstGeom prst="rect">
            <a:avLst/>
          </a:prstGeom>
          <a:noFill/>
        </p:spPr>
        <p:txBody>
          <a:bodyPr wrap="square">
            <a:spAutoFit/>
          </a:bodyPr>
          <a:lstStyle/>
          <a:p>
            <a:pPr>
              <a:defRPr sz="950" b="1">
                <a:solidFill>
                  <a:srgbClr val="F59E0B"/>
                </a:solidFill>
                <a:latin typeface="Calibri"/>
              </a:defRPr>
            </a:pPr>
            <a:r>
              <a:t>Test 03</a:t>
            </a:r>
          </a:p>
          <a:p>
            <a:pPr>
              <a:spcBef>
                <a:spcPts val="200"/>
              </a:spcBef>
              <a:defRPr sz="850" b="1">
                <a:solidFill>
                  <a:srgbClr val="F8FAFC"/>
                </a:solidFill>
                <a:latin typeface="Calibri"/>
              </a:defRPr>
            </a:pPr>
            <a:r>
              <a:t>₹10k Approval Limit</a:t>
            </a:r>
          </a:p>
          <a:p>
            <a:pPr>
              <a:spcBef>
                <a:spcPts val="300"/>
              </a:spcBef>
              <a:defRPr sz="900" b="1">
                <a:solidFill>
                  <a:srgbClr val="10B981"/>
                </a:solidFill>
                <a:latin typeface="Calibri"/>
              </a:defRPr>
            </a:pPr>
            <a:r>
              <a:t>✔ PASSED</a:t>
            </a:r>
          </a:p>
        </p:txBody>
      </p:sp>
      <p:sp>
        <p:nvSpPr>
          <p:cNvPr id="15" name="Rounded Rectangle 14"/>
          <p:cNvSpPr/>
          <p:nvPr/>
        </p:nvSpPr>
        <p:spPr>
          <a:xfrm>
            <a:off x="5367528" y="1783080"/>
            <a:ext cx="1444752" cy="1097280"/>
          </a:xfrm>
          <a:prstGeom prst="roundRect">
            <a:avLst/>
          </a:prstGeom>
          <a:solidFill>
            <a:srgbClr val="111827"/>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40680" y="1874519"/>
            <a:ext cx="1298448" cy="914400"/>
          </a:xfrm>
          <a:prstGeom prst="rect">
            <a:avLst/>
          </a:prstGeom>
          <a:noFill/>
        </p:spPr>
        <p:txBody>
          <a:bodyPr wrap="square">
            <a:spAutoFit/>
          </a:bodyPr>
          <a:lstStyle/>
          <a:p>
            <a:pPr>
              <a:defRPr sz="950" b="1">
                <a:solidFill>
                  <a:srgbClr val="F43F5E"/>
                </a:solidFill>
                <a:latin typeface="Calibri"/>
              </a:defRPr>
            </a:pPr>
            <a:r>
              <a:t>Test 04</a:t>
            </a:r>
          </a:p>
          <a:p>
            <a:pPr>
              <a:spcBef>
                <a:spcPts val="200"/>
              </a:spcBef>
              <a:defRPr sz="850" b="1">
                <a:solidFill>
                  <a:srgbClr val="F8FAFC"/>
                </a:solidFill>
                <a:latin typeface="Calibri"/>
              </a:defRPr>
            </a:pPr>
            <a:r>
              <a:t>Mandatory Rejection Note</a:t>
            </a:r>
          </a:p>
          <a:p>
            <a:pPr>
              <a:spcBef>
                <a:spcPts val="300"/>
              </a:spcBef>
              <a:defRPr sz="900" b="1">
                <a:solidFill>
                  <a:srgbClr val="10B981"/>
                </a:solidFill>
                <a:latin typeface="Calibri"/>
              </a:defRPr>
            </a:pPr>
            <a:r>
              <a:t>✔ PASSED</a:t>
            </a:r>
          </a:p>
        </p:txBody>
      </p:sp>
      <p:sp>
        <p:nvSpPr>
          <p:cNvPr id="17" name="Rounded Rectangle 16"/>
          <p:cNvSpPr/>
          <p:nvPr/>
        </p:nvSpPr>
        <p:spPr>
          <a:xfrm>
            <a:off x="6912864" y="1783080"/>
            <a:ext cx="1444752" cy="109728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6016" y="1874519"/>
            <a:ext cx="1298448" cy="914400"/>
          </a:xfrm>
          <a:prstGeom prst="rect">
            <a:avLst/>
          </a:prstGeom>
          <a:noFill/>
        </p:spPr>
        <p:txBody>
          <a:bodyPr wrap="square">
            <a:spAutoFit/>
          </a:bodyPr>
          <a:lstStyle/>
          <a:p>
            <a:pPr>
              <a:defRPr sz="950" b="1">
                <a:solidFill>
                  <a:srgbClr val="10B981"/>
                </a:solidFill>
                <a:latin typeface="Calibri"/>
              </a:defRPr>
            </a:pPr>
            <a:r>
              <a:t>Test 05</a:t>
            </a:r>
          </a:p>
          <a:p>
            <a:pPr>
              <a:spcBef>
                <a:spcPts val="200"/>
              </a:spcBef>
              <a:defRPr sz="850" b="1">
                <a:solidFill>
                  <a:srgbClr val="F8FAFC"/>
                </a:solidFill>
                <a:latin typeface="Calibri"/>
              </a:defRPr>
            </a:pPr>
            <a:r>
              <a:t>Claim State Machine</a:t>
            </a:r>
          </a:p>
          <a:p>
            <a:pPr>
              <a:spcBef>
                <a:spcPts val="300"/>
              </a:spcBef>
              <a:defRPr sz="900" b="1">
                <a:solidFill>
                  <a:srgbClr val="10B981"/>
                </a:solidFill>
                <a:latin typeface="Calibri"/>
              </a:defRPr>
            </a:pPr>
            <a:r>
              <a:t>✔ PASSED</a:t>
            </a:r>
          </a:p>
        </p:txBody>
      </p:sp>
      <p:sp>
        <p:nvSpPr>
          <p:cNvPr id="19" name="Rounded Rectangle 18"/>
          <p:cNvSpPr/>
          <p:nvPr/>
        </p:nvSpPr>
        <p:spPr>
          <a:xfrm>
            <a:off x="8458200" y="1783080"/>
            <a:ext cx="1444752" cy="1097280"/>
          </a:xfrm>
          <a:prstGeom prst="roundRect">
            <a:avLst/>
          </a:prstGeom>
          <a:solidFill>
            <a:srgbClr val="111827"/>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31352" y="1874519"/>
            <a:ext cx="1298448" cy="914400"/>
          </a:xfrm>
          <a:prstGeom prst="rect">
            <a:avLst/>
          </a:prstGeom>
          <a:noFill/>
        </p:spPr>
        <p:txBody>
          <a:bodyPr wrap="square">
            <a:spAutoFit/>
          </a:bodyPr>
          <a:lstStyle/>
          <a:p>
            <a:pPr>
              <a:defRPr sz="950" b="1">
                <a:solidFill>
                  <a:srgbClr val="8B5CF6"/>
                </a:solidFill>
                <a:latin typeface="Calibri"/>
              </a:defRPr>
            </a:pPr>
            <a:r>
              <a:t>Test 06</a:t>
            </a:r>
          </a:p>
          <a:p>
            <a:pPr>
              <a:spcBef>
                <a:spcPts val="200"/>
              </a:spcBef>
              <a:defRPr sz="850" b="1">
                <a:solidFill>
                  <a:srgbClr val="F8FAFC"/>
                </a:solidFill>
                <a:latin typeface="Calibri"/>
              </a:defRPr>
            </a:pPr>
            <a:r>
              <a:t>ACID Batch Settlement</a:t>
            </a:r>
          </a:p>
          <a:p>
            <a:pPr>
              <a:spcBef>
                <a:spcPts val="300"/>
              </a:spcBef>
              <a:defRPr sz="900" b="1">
                <a:solidFill>
                  <a:srgbClr val="10B981"/>
                </a:solidFill>
                <a:latin typeface="Calibri"/>
              </a:defRPr>
            </a:pPr>
            <a:r>
              <a:t>✔ PASSED</a:t>
            </a:r>
          </a:p>
        </p:txBody>
      </p:sp>
      <p:sp>
        <p:nvSpPr>
          <p:cNvPr id="21" name="Rounded Rectangle 20"/>
          <p:cNvSpPr/>
          <p:nvPr/>
        </p:nvSpPr>
        <p:spPr>
          <a:xfrm>
            <a:off x="10003536" y="1783080"/>
            <a:ext cx="1444752" cy="109728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76688" y="1874519"/>
            <a:ext cx="1298448" cy="914400"/>
          </a:xfrm>
          <a:prstGeom prst="rect">
            <a:avLst/>
          </a:prstGeom>
          <a:noFill/>
        </p:spPr>
        <p:txBody>
          <a:bodyPr wrap="square">
            <a:spAutoFit/>
          </a:bodyPr>
          <a:lstStyle/>
          <a:p>
            <a:pPr>
              <a:defRPr sz="950" b="1">
                <a:solidFill>
                  <a:srgbClr val="10B981"/>
                </a:solidFill>
                <a:latin typeface="Calibri"/>
              </a:defRPr>
            </a:pPr>
            <a:r>
              <a:t>Test 07</a:t>
            </a:r>
          </a:p>
          <a:p>
            <a:pPr>
              <a:spcBef>
                <a:spcPts val="200"/>
              </a:spcBef>
              <a:defRPr sz="850" b="1">
                <a:solidFill>
                  <a:srgbClr val="F8FAFC"/>
                </a:solidFill>
                <a:latin typeface="Calibri"/>
              </a:defRPr>
            </a:pPr>
            <a:r>
              <a:t>Audit Trail Query Scopes</a:t>
            </a:r>
          </a:p>
          <a:p>
            <a:pPr>
              <a:spcBef>
                <a:spcPts val="300"/>
              </a:spcBef>
              <a:defRPr sz="900" b="1">
                <a:solidFill>
                  <a:srgbClr val="10B981"/>
                </a:solidFill>
                <a:latin typeface="Calibri"/>
              </a:defRPr>
            </a:pPr>
            <a:r>
              <a:t>✔ PASSED</a:t>
            </a:r>
          </a:p>
        </p:txBody>
      </p:sp>
      <p:sp>
        <p:nvSpPr>
          <p:cNvPr id="23" name="Rounded Rectangle 22"/>
          <p:cNvSpPr/>
          <p:nvPr/>
        </p:nvSpPr>
        <p:spPr>
          <a:xfrm>
            <a:off x="731520" y="3017520"/>
            <a:ext cx="10728655" cy="50292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063240"/>
            <a:ext cx="10362895" cy="411480"/>
          </a:xfrm>
          <a:prstGeom prst="rect">
            <a:avLst/>
          </a:prstGeom>
          <a:noFill/>
        </p:spPr>
        <p:txBody>
          <a:bodyPr wrap="none">
            <a:spAutoFit/>
          </a:bodyPr>
          <a:lstStyle/>
          <a:p>
            <a:pPr algn="ctr">
              <a:defRPr sz="1100" b="1">
                <a:solidFill>
                  <a:srgbClr val="10B981"/>
                </a:solidFill>
                <a:latin typeface="Calibri"/>
              </a:defRPr>
            </a:pPr>
            <a:r>
              <a:t>✔ ALL 7 AUTOMATED DOMAIN TEST SUITES PASSING (0.19s EXECUTION TIME • 100% SUCCESS RATE)</a:t>
            </a:r>
          </a:p>
        </p:txBody>
      </p:sp>
      <p:sp>
        <p:nvSpPr>
          <p:cNvPr id="25" name="Rounded Rectangle 24"/>
          <p:cNvSpPr/>
          <p:nvPr/>
        </p:nvSpPr>
        <p:spPr>
          <a:xfrm>
            <a:off x="731520" y="3657600"/>
            <a:ext cx="10728655" cy="2148840"/>
          </a:xfrm>
          <a:prstGeom prst="roundRect">
            <a:avLst/>
          </a:prstGeom>
          <a:solidFill>
            <a:srgbClr val="111827"/>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749039"/>
            <a:ext cx="10362895" cy="1920240"/>
          </a:xfrm>
          <a:prstGeom prst="rect">
            <a:avLst/>
          </a:prstGeom>
          <a:noFill/>
        </p:spPr>
        <p:txBody>
          <a:bodyPr wrap="square">
            <a:spAutoFit/>
          </a:bodyPr>
          <a:lstStyle/>
          <a:p>
            <a:pPr>
              <a:defRPr sz="1100" b="1">
                <a:solidFill>
                  <a:srgbClr val="0EA5E9"/>
                </a:solidFill>
                <a:latin typeface="Calibri"/>
              </a:defRPr>
            </a:pPr>
            <a:r>
              <a:t>CORE CAPSTONE ARCHITECTURAL TAKEAWAYS:</a:t>
            </a:r>
          </a:p>
          <a:p>
            <a:pPr>
              <a:spcBef>
                <a:spcPts val="300"/>
              </a:spcBef>
              <a:defRPr sz="950">
                <a:solidFill>
                  <a:srgbClr val="F8FAFC"/>
                </a:solidFill>
                <a:latin typeface="Calibri"/>
              </a:defRPr>
            </a:pPr>
            <a:r>
              <a:t>•  Decoupled Separation of Concerns:  Presentation, Controller, Service, and Repository layers communicate exclusively via typed DTO contracts, eliminating domain leakage.</a:t>
            </a:r>
          </a:p>
          <a:p>
            <a:pPr>
              <a:spcBef>
                <a:spcPts val="300"/>
              </a:spcBef>
              <a:defRPr sz="950">
                <a:solidFill>
                  <a:srgbClr val="F8FAFC"/>
                </a:solidFill>
                <a:latin typeface="Calibri"/>
              </a:defRPr>
            </a:pPr>
            <a:r>
              <a:t>•  Zero-Build Lightweight Portability:  Zero npm or webpack build tooling needed; self-contained FastAPI server and SQLite3 database runs seamlessly on any environment.</a:t>
            </a:r>
          </a:p>
          <a:p>
            <a:pPr>
              <a:spcBef>
                <a:spcPts val="300"/>
              </a:spcBef>
              <a:defRPr sz="950">
                <a:solidFill>
                  <a:srgbClr val="F8FAFC"/>
                </a:solidFill>
                <a:latin typeface="Calibri"/>
              </a:defRPr>
            </a:pPr>
            <a:r>
              <a:t>•  Algorithmic Fiscal Governance:  Dual-tier approval limits (₹10k) and 48-hour duplicate detection eliminate corporate fraud and human oversight errors programmatically.</a:t>
            </a:r>
          </a:p>
          <a:p>
            <a:pPr>
              <a:spcBef>
                <a:spcPts val="300"/>
              </a:spcBef>
              <a:defRPr sz="950">
                <a:solidFill>
                  <a:srgbClr val="F8FAFC"/>
                </a:solidFill>
                <a:latin typeface="Calibri"/>
              </a:defRPr>
            </a:pPr>
            <a:r>
              <a:t>•  Non-Repudiation by Design:  Strict append-only audit trail guarantees complete transparency, legal defensibility, and compliance with enterprise financial governance standards.</a:t>
            </a:r>
          </a:p>
        </p:txBody>
      </p:sp>
      <p:sp>
        <p:nvSpPr>
          <p:cNvPr id="27" name="TextBox 26"/>
          <p:cNvSpPr txBox="1"/>
          <p:nvPr/>
        </p:nvSpPr>
        <p:spPr>
          <a:xfrm>
            <a:off x="731520" y="5897880"/>
            <a:ext cx="10728655" cy="320040"/>
          </a:xfrm>
          <a:prstGeom prst="rect">
            <a:avLst/>
          </a:prstGeom>
          <a:noFill/>
        </p:spPr>
        <p:txBody>
          <a:bodyPr wrap="none">
            <a:spAutoFit/>
          </a:bodyPr>
          <a:lstStyle/>
          <a:p>
            <a:pPr>
              <a:defRPr sz="1000" b="1">
                <a:solidFill>
                  <a:srgbClr val="10B981"/>
                </a:solidFill>
                <a:latin typeface="Calibri"/>
              </a:defRPr>
            </a:pPr>
            <a:r>
              <a:t>Thank you, Respected Professor and Evaluators. The team is now open for Viva Voce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